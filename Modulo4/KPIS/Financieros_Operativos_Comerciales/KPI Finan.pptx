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Bricolage Grotesque Bold" charset="1" panose="020B0605040402000204"/>
      <p:regular r:id="rId10"/>
    </p:embeddedFont>
    <p:embeddedFont>
      <p:font typeface="Canva Sans Bold" charset="1" panose="020B0803030501040103"/>
      <p:regular r:id="rId11"/>
    </p:embeddedFont>
    <p:embeddedFont>
      <p:font typeface="Canva Sans" charset="1" panose="020B05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76989" cy="871797"/>
          </a:xfrm>
          <a:custGeom>
            <a:avLst/>
            <a:gdLst/>
            <a:ahLst/>
            <a:cxnLst/>
            <a:rect r="r" b="b" t="t" l="l"/>
            <a:pathLst>
              <a:path h="871797" w="776989">
                <a:moveTo>
                  <a:pt x="0" y="0"/>
                </a:moveTo>
                <a:lnTo>
                  <a:pt x="776989" y="0"/>
                </a:lnTo>
                <a:lnTo>
                  <a:pt x="776989" y="871797"/>
                </a:lnTo>
                <a:lnTo>
                  <a:pt x="0" y="871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803813">
            <a:off x="4706048" y="4606780"/>
            <a:ext cx="15533422" cy="5145446"/>
          </a:xfrm>
          <a:custGeom>
            <a:avLst/>
            <a:gdLst/>
            <a:ahLst/>
            <a:cxnLst/>
            <a:rect r="r" b="b" t="t" l="l"/>
            <a:pathLst>
              <a:path h="5145446" w="15533422">
                <a:moveTo>
                  <a:pt x="0" y="0"/>
                </a:moveTo>
                <a:lnTo>
                  <a:pt x="15533421" y="0"/>
                </a:lnTo>
                <a:lnTo>
                  <a:pt x="15533421" y="5145446"/>
                </a:lnTo>
                <a:lnTo>
                  <a:pt x="0" y="5145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05972" y="1235999"/>
            <a:ext cx="9985315" cy="99853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7115" y="9427918"/>
            <a:ext cx="1464785" cy="14647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3673B5"/>
              </a:solidFill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68942" y="9247446"/>
            <a:ext cx="1639823" cy="163982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8FC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35539" y="-882425"/>
            <a:ext cx="10367801" cy="1036780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A1E3F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009075" y="8989253"/>
            <a:ext cx="1573331" cy="157333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A1E3F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10509" y="514350"/>
            <a:ext cx="9258300" cy="92583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F5F7D1"/>
              </a:solidFill>
              <a:prstDash val="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705791" y="0"/>
            <a:ext cx="12027295" cy="12027295"/>
          </a:xfrm>
          <a:custGeom>
            <a:avLst/>
            <a:gdLst/>
            <a:ahLst/>
            <a:cxnLst/>
            <a:rect r="r" b="b" t="t" l="l"/>
            <a:pathLst>
              <a:path h="12027295" w="12027295">
                <a:moveTo>
                  <a:pt x="0" y="0"/>
                </a:moveTo>
                <a:lnTo>
                  <a:pt x="12027296" y="0"/>
                </a:lnTo>
                <a:lnTo>
                  <a:pt x="12027296" y="12027295"/>
                </a:lnTo>
                <a:lnTo>
                  <a:pt x="0" y="12027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4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833946" y="-1306983"/>
            <a:ext cx="10278984" cy="1027898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65459" t="-8242" r="-14368" b="-4599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E3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40732" y="3069408"/>
            <a:ext cx="7387826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KPI Financieros, COmerciales y Operativos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02072">
            <a:off x="1712681" y="-388521"/>
            <a:ext cx="8168021" cy="3706240"/>
          </a:xfrm>
          <a:custGeom>
            <a:avLst/>
            <a:gdLst/>
            <a:ahLst/>
            <a:cxnLst/>
            <a:rect r="r" b="b" t="t" l="l"/>
            <a:pathLst>
              <a:path h="3706240" w="8168021">
                <a:moveTo>
                  <a:pt x="0" y="0"/>
                </a:moveTo>
                <a:lnTo>
                  <a:pt x="8168022" y="0"/>
                </a:lnTo>
                <a:lnTo>
                  <a:pt x="8168022" y="3706240"/>
                </a:lnTo>
                <a:lnTo>
                  <a:pt x="0" y="3706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329090" y="4930347"/>
            <a:ext cx="12424019" cy="5573071"/>
            <a:chOff x="0" y="0"/>
            <a:chExt cx="3272170" cy="14678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72170" cy="1467805"/>
            </a:xfrm>
            <a:custGeom>
              <a:avLst/>
              <a:gdLst/>
              <a:ahLst/>
              <a:cxnLst/>
              <a:rect r="r" b="b" t="t" l="l"/>
              <a:pathLst>
                <a:path h="1467805" w="3272170">
                  <a:moveTo>
                    <a:pt x="0" y="0"/>
                  </a:moveTo>
                  <a:lnTo>
                    <a:pt x="3272170" y="0"/>
                  </a:lnTo>
                  <a:lnTo>
                    <a:pt x="3272170" y="1467805"/>
                  </a:lnTo>
                  <a:lnTo>
                    <a:pt x="0" y="1467805"/>
                  </a:ln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72170" cy="1505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b) ROI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Respuesta: ROI = 30 %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Interpretación: El proyecto generó un rendimiento del 30 % sobre la inversión inicial.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c. Liquidez corriente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Respuesta: Liquidez corriente =1,58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Interpretación: Por cada ₡1 que la empresa debe a corto plazo, tiene aproximadamente</a:t>
              </a:r>
            </a:p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₡1,58 para respaldarlo.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0236701">
            <a:off x="10990470" y="-3098028"/>
            <a:ext cx="7946553" cy="79465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8FC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0236701">
            <a:off x="11240442" y="-2488701"/>
            <a:ext cx="7367977" cy="73679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F5F7D1"/>
              </a:solidFill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0236701">
            <a:off x="12213090" y="-3666944"/>
            <a:ext cx="7367977" cy="73679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A1E3F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9484" y="75919"/>
            <a:ext cx="6019571" cy="7177075"/>
          </a:xfrm>
          <a:custGeom>
            <a:avLst/>
            <a:gdLst/>
            <a:ahLst/>
            <a:cxnLst/>
            <a:rect r="r" b="b" t="t" l="l"/>
            <a:pathLst>
              <a:path h="7177075" w="6019571">
                <a:moveTo>
                  <a:pt x="0" y="0"/>
                </a:moveTo>
                <a:lnTo>
                  <a:pt x="6019571" y="0"/>
                </a:lnTo>
                <a:lnTo>
                  <a:pt x="6019571" y="7177076"/>
                </a:lnTo>
                <a:lnTo>
                  <a:pt x="0" y="7177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35" t="0" r="-1526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07516" y="3593363"/>
            <a:ext cx="573832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Caso 1: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75324" y="10020482"/>
            <a:ext cx="15073398" cy="4398966"/>
            <a:chOff x="0" y="0"/>
            <a:chExt cx="3969949" cy="11585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69949" cy="1158575"/>
            </a:xfrm>
            <a:custGeom>
              <a:avLst/>
              <a:gdLst/>
              <a:ahLst/>
              <a:cxnLst/>
              <a:rect r="r" b="b" t="t" l="l"/>
              <a:pathLst>
                <a:path h="1158575" w="3969949">
                  <a:moveTo>
                    <a:pt x="0" y="0"/>
                  </a:moveTo>
                  <a:lnTo>
                    <a:pt x="3969949" y="0"/>
                  </a:lnTo>
                  <a:lnTo>
                    <a:pt x="3969949" y="1158575"/>
                  </a:lnTo>
                  <a:lnTo>
                    <a:pt x="0" y="1158575"/>
                  </a:ln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69949" cy="119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575324" y="5422819"/>
            <a:ext cx="12177785" cy="124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0"/>
              </a:lnSpc>
              <a:spcBef>
                <a:spcPct val="0"/>
              </a:spcBef>
            </a:pPr>
            <a:r>
              <a:rPr lang="en-US" b="true" sz="23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Margen neto</a:t>
            </a:r>
          </a:p>
          <a:p>
            <a:pPr algn="ctr">
              <a:lnSpc>
                <a:spcPts val="3310"/>
              </a:lnSpc>
              <a:spcBef>
                <a:spcPct val="0"/>
              </a:spcBef>
            </a:pPr>
            <a:r>
              <a:rPr lang="en-US" b="true" sz="23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Respuesta: Margen neto = 12 %</a:t>
            </a:r>
          </a:p>
          <a:p>
            <a:pPr algn="ctr">
              <a:lnSpc>
                <a:spcPts val="3310"/>
              </a:lnSpc>
              <a:spcBef>
                <a:spcPct val="0"/>
              </a:spcBef>
            </a:pPr>
            <a:r>
              <a:rPr lang="en-US" b="true" sz="23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Interpretación: Por cada ₡100 que la empresa vende, obtiene ₡12 de utilidad neta.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02072">
            <a:off x="1712681" y="-388521"/>
            <a:ext cx="8168021" cy="3706240"/>
          </a:xfrm>
          <a:custGeom>
            <a:avLst/>
            <a:gdLst/>
            <a:ahLst/>
            <a:cxnLst/>
            <a:rect r="r" b="b" t="t" l="l"/>
            <a:pathLst>
              <a:path h="3706240" w="8168021">
                <a:moveTo>
                  <a:pt x="0" y="0"/>
                </a:moveTo>
                <a:lnTo>
                  <a:pt x="8168022" y="0"/>
                </a:lnTo>
                <a:lnTo>
                  <a:pt x="8168022" y="3706240"/>
                </a:lnTo>
                <a:lnTo>
                  <a:pt x="0" y="3706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59104" y="5819629"/>
            <a:ext cx="11894005" cy="4398966"/>
            <a:chOff x="0" y="0"/>
            <a:chExt cx="3132577" cy="1158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2577" cy="1158575"/>
            </a:xfrm>
            <a:custGeom>
              <a:avLst/>
              <a:gdLst/>
              <a:ahLst/>
              <a:cxnLst/>
              <a:rect r="r" b="b" t="t" l="l"/>
              <a:pathLst>
                <a:path h="1158575" w="3132577">
                  <a:moveTo>
                    <a:pt x="0" y="0"/>
                  </a:moveTo>
                  <a:lnTo>
                    <a:pt x="3132577" y="0"/>
                  </a:lnTo>
                  <a:lnTo>
                    <a:pt x="3132577" y="1158575"/>
                  </a:lnTo>
                  <a:lnTo>
                    <a:pt x="0" y="1158575"/>
                  </a:ln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32577" cy="119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0236701">
            <a:off x="10771595" y="-2167811"/>
            <a:ext cx="7946553" cy="79465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8FC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0236701">
            <a:off x="11021568" y="-1558484"/>
            <a:ext cx="7367977" cy="73679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F5F7D1"/>
              </a:solidFill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0236701">
            <a:off x="12104829" y="-2655288"/>
            <a:ext cx="7367977" cy="73679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A1E3F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245228" y="1028700"/>
            <a:ext cx="776989" cy="871797"/>
          </a:xfrm>
          <a:custGeom>
            <a:avLst/>
            <a:gdLst/>
            <a:ahLst/>
            <a:cxnLst/>
            <a:rect r="r" b="b" t="t" l="l"/>
            <a:pathLst>
              <a:path h="871797" w="776989">
                <a:moveTo>
                  <a:pt x="0" y="0"/>
                </a:moveTo>
                <a:lnTo>
                  <a:pt x="776990" y="0"/>
                </a:lnTo>
                <a:lnTo>
                  <a:pt x="776990" y="871797"/>
                </a:lnTo>
                <a:lnTo>
                  <a:pt x="0" y="871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575324" y="10020482"/>
            <a:ext cx="15073398" cy="4398966"/>
            <a:chOff x="0" y="0"/>
            <a:chExt cx="3969949" cy="1158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69949" cy="1158575"/>
            </a:xfrm>
            <a:custGeom>
              <a:avLst/>
              <a:gdLst/>
              <a:ahLst/>
              <a:cxnLst/>
              <a:rect r="r" b="b" t="t" l="l"/>
              <a:pathLst>
                <a:path h="1158575" w="3969949">
                  <a:moveTo>
                    <a:pt x="0" y="0"/>
                  </a:moveTo>
                  <a:lnTo>
                    <a:pt x="3969949" y="0"/>
                  </a:lnTo>
                  <a:lnTo>
                    <a:pt x="3969949" y="1158575"/>
                  </a:lnTo>
                  <a:lnTo>
                    <a:pt x="0" y="1158575"/>
                  </a:ln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69949" cy="119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0" y="302803"/>
            <a:ext cx="10962865" cy="4745379"/>
          </a:xfrm>
          <a:custGeom>
            <a:avLst/>
            <a:gdLst/>
            <a:ahLst/>
            <a:cxnLst/>
            <a:rect r="r" b="b" t="t" l="l"/>
            <a:pathLst>
              <a:path h="4745379" w="10962865">
                <a:moveTo>
                  <a:pt x="0" y="0"/>
                </a:moveTo>
                <a:lnTo>
                  <a:pt x="10962865" y="0"/>
                </a:lnTo>
                <a:lnTo>
                  <a:pt x="10962865" y="4745379"/>
                </a:lnTo>
                <a:lnTo>
                  <a:pt x="0" y="47453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859104" y="6131879"/>
            <a:ext cx="11176533" cy="3774467"/>
          </a:xfrm>
          <a:custGeom>
            <a:avLst/>
            <a:gdLst/>
            <a:ahLst/>
            <a:cxnLst/>
            <a:rect r="r" b="b" t="t" l="l"/>
            <a:pathLst>
              <a:path h="3774467" w="11176533">
                <a:moveTo>
                  <a:pt x="0" y="0"/>
                </a:moveTo>
                <a:lnTo>
                  <a:pt x="11176533" y="0"/>
                </a:lnTo>
                <a:lnTo>
                  <a:pt x="11176533" y="3774467"/>
                </a:lnTo>
                <a:lnTo>
                  <a:pt x="0" y="3774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895403" y="5895829"/>
            <a:ext cx="573832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Caso 2: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02072">
            <a:off x="1712681" y="-388521"/>
            <a:ext cx="8168021" cy="3706240"/>
          </a:xfrm>
          <a:custGeom>
            <a:avLst/>
            <a:gdLst/>
            <a:ahLst/>
            <a:cxnLst/>
            <a:rect r="r" b="b" t="t" l="l"/>
            <a:pathLst>
              <a:path h="3706240" w="8168021">
                <a:moveTo>
                  <a:pt x="0" y="0"/>
                </a:moveTo>
                <a:lnTo>
                  <a:pt x="8168022" y="0"/>
                </a:lnTo>
                <a:lnTo>
                  <a:pt x="8168022" y="3706240"/>
                </a:lnTo>
                <a:lnTo>
                  <a:pt x="0" y="3706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59104" y="5819629"/>
            <a:ext cx="11894005" cy="4398966"/>
            <a:chOff x="0" y="0"/>
            <a:chExt cx="3132577" cy="11585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2577" cy="1158575"/>
            </a:xfrm>
            <a:custGeom>
              <a:avLst/>
              <a:gdLst/>
              <a:ahLst/>
              <a:cxnLst/>
              <a:rect r="r" b="b" t="t" l="l"/>
              <a:pathLst>
                <a:path h="1158575" w="3132577">
                  <a:moveTo>
                    <a:pt x="0" y="0"/>
                  </a:moveTo>
                  <a:lnTo>
                    <a:pt x="3132577" y="0"/>
                  </a:lnTo>
                  <a:lnTo>
                    <a:pt x="3132577" y="1158575"/>
                  </a:lnTo>
                  <a:lnTo>
                    <a:pt x="0" y="1158575"/>
                  </a:ln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32577" cy="119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0236701">
            <a:off x="10771595" y="-2167811"/>
            <a:ext cx="7946553" cy="79465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8FC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0236701">
            <a:off x="11021568" y="-1558484"/>
            <a:ext cx="7367977" cy="73679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F5F7D1"/>
              </a:solidFill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10236701">
            <a:off x="12104829" y="-2655288"/>
            <a:ext cx="7367977" cy="73679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A1E3F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75324" y="10020482"/>
            <a:ext cx="15073398" cy="4398966"/>
            <a:chOff x="0" y="0"/>
            <a:chExt cx="3969949" cy="1158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69949" cy="1158575"/>
            </a:xfrm>
            <a:custGeom>
              <a:avLst/>
              <a:gdLst/>
              <a:ahLst/>
              <a:cxnLst/>
              <a:rect r="r" b="b" t="t" l="l"/>
              <a:pathLst>
                <a:path h="1158575" w="3969949">
                  <a:moveTo>
                    <a:pt x="0" y="0"/>
                  </a:moveTo>
                  <a:lnTo>
                    <a:pt x="3969949" y="0"/>
                  </a:lnTo>
                  <a:lnTo>
                    <a:pt x="3969949" y="1158575"/>
                  </a:lnTo>
                  <a:lnTo>
                    <a:pt x="0" y="1158575"/>
                  </a:lnTo>
                  <a:close/>
                </a:path>
              </a:pathLst>
            </a:custGeom>
            <a:solidFill>
              <a:srgbClr val="3673B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969949" cy="119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0" y="522702"/>
            <a:ext cx="11064695" cy="3413114"/>
          </a:xfrm>
          <a:custGeom>
            <a:avLst/>
            <a:gdLst/>
            <a:ahLst/>
            <a:cxnLst/>
            <a:rect r="r" b="b" t="t" l="l"/>
            <a:pathLst>
              <a:path h="3413114" w="11064695">
                <a:moveTo>
                  <a:pt x="0" y="0"/>
                </a:moveTo>
                <a:lnTo>
                  <a:pt x="11064695" y="0"/>
                </a:lnTo>
                <a:lnTo>
                  <a:pt x="11064695" y="3413114"/>
                </a:lnTo>
                <a:lnTo>
                  <a:pt x="0" y="34131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56" t="0" r="-1656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59104" y="5955751"/>
            <a:ext cx="11221792" cy="4126724"/>
          </a:xfrm>
          <a:custGeom>
            <a:avLst/>
            <a:gdLst/>
            <a:ahLst/>
            <a:cxnLst/>
            <a:rect r="r" b="b" t="t" l="l"/>
            <a:pathLst>
              <a:path h="4126724" w="11221792">
                <a:moveTo>
                  <a:pt x="0" y="0"/>
                </a:moveTo>
                <a:lnTo>
                  <a:pt x="11221792" y="0"/>
                </a:lnTo>
                <a:lnTo>
                  <a:pt x="11221792" y="4126723"/>
                </a:lnTo>
                <a:lnTo>
                  <a:pt x="0" y="41267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70770" y="5125704"/>
            <a:ext cx="573832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Caso 3: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06685" y="888207"/>
            <a:ext cx="4668547" cy="243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Estos tres indicadores miden aspectos diferentes del desempeño operativo: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eficiencia del trabajo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velocidad de movimiento del inventario 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calidad de laproducción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6033" y="6499680"/>
            <a:ext cx="5610616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a) Productividad = Unidades producidas / Horas-hombre trabajadas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b) Rotación de inventario = Costo de ventas / Inventario promedio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c) Tasa de defectos = Unidades defectuosas / Unidades totales ×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DAHUFKvI7OQ</dc:identifier>
  <dcterms:modified xsi:type="dcterms:W3CDTF">2011-08-01T06:04:30Z</dcterms:modified>
  <cp:revision>1</cp:revision>
  <dc:title>KPI Finan</dc:title>
</cp:coreProperties>
</file>