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ilita One" charset="1" panose="02000000000000000000"/>
      <p:regular r:id="rId16"/>
    </p:embeddedFont>
    <p:embeddedFont>
      <p:font typeface="Bellaboo" charset="1" panose="00000000000000000000"/>
      <p:regular r:id="rId17"/>
    </p:embeddedFont>
    <p:embeddedFont>
      <p:font typeface="Roboto" charset="1" panose="02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201963">
            <a:off x="498180" y="-5410861"/>
            <a:ext cx="17736598" cy="19317087"/>
          </a:xfrm>
          <a:custGeom>
            <a:avLst/>
            <a:gdLst/>
            <a:ahLst/>
            <a:cxnLst/>
            <a:rect r="r" b="b" t="t" l="l"/>
            <a:pathLst>
              <a:path h="19317087" w="17736598">
                <a:moveTo>
                  <a:pt x="0" y="0"/>
                </a:moveTo>
                <a:lnTo>
                  <a:pt x="17736599" y="0"/>
                </a:lnTo>
                <a:lnTo>
                  <a:pt x="17736599" y="19317088"/>
                </a:lnTo>
                <a:lnTo>
                  <a:pt x="0" y="193170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4031476" y="137070"/>
            <a:ext cx="10225048" cy="10012860"/>
            <a:chOff x="-72390" y="7620"/>
            <a:chExt cx="6487160" cy="63525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3836" y="7620"/>
              <a:ext cx="6350053" cy="6352540"/>
            </a:xfrm>
            <a:custGeom>
              <a:avLst/>
              <a:gdLst/>
              <a:ahLst/>
              <a:cxnLst/>
              <a:rect r="r" b="b" t="t" l="l"/>
              <a:pathLst>
                <a:path h="6352540" w="6350053">
                  <a:moveTo>
                    <a:pt x="6253506" y="3176270"/>
                  </a:moveTo>
                  <a:cubicBezTo>
                    <a:pt x="6253506" y="2844800"/>
                    <a:pt x="6418606" y="2493010"/>
                    <a:pt x="6317006" y="2194560"/>
                  </a:cubicBezTo>
                  <a:cubicBezTo>
                    <a:pt x="6212866" y="1884680"/>
                    <a:pt x="5859806" y="1694180"/>
                    <a:pt x="5665496" y="1436370"/>
                  </a:cubicBezTo>
                  <a:cubicBezTo>
                    <a:pt x="5468646" y="1176020"/>
                    <a:pt x="5387366" y="796290"/>
                    <a:pt x="5116856" y="607060"/>
                  </a:cubicBezTo>
                  <a:cubicBezTo>
                    <a:pt x="4848886" y="420370"/>
                    <a:pt x="4448836" y="462280"/>
                    <a:pt x="4127526" y="360680"/>
                  </a:cubicBezTo>
                  <a:cubicBezTo>
                    <a:pt x="3816376" y="264160"/>
                    <a:pt x="3520466" y="0"/>
                    <a:pt x="3176296" y="0"/>
                  </a:cubicBezTo>
                  <a:cubicBezTo>
                    <a:pt x="2832126" y="0"/>
                    <a:pt x="2534946" y="262890"/>
                    <a:pt x="2225066" y="360680"/>
                  </a:cubicBezTo>
                  <a:cubicBezTo>
                    <a:pt x="1903756" y="461010"/>
                    <a:pt x="1502436" y="419100"/>
                    <a:pt x="1234466" y="607060"/>
                  </a:cubicBezTo>
                  <a:cubicBezTo>
                    <a:pt x="963956" y="796290"/>
                    <a:pt x="882676" y="1176020"/>
                    <a:pt x="685826" y="1436370"/>
                  </a:cubicBezTo>
                  <a:cubicBezTo>
                    <a:pt x="490246" y="1694180"/>
                    <a:pt x="138456" y="1884680"/>
                    <a:pt x="33046" y="2194560"/>
                  </a:cubicBezTo>
                  <a:cubicBezTo>
                    <a:pt x="-67284" y="2493010"/>
                    <a:pt x="96546" y="2844800"/>
                    <a:pt x="96546" y="3176270"/>
                  </a:cubicBezTo>
                  <a:cubicBezTo>
                    <a:pt x="96546" y="3507740"/>
                    <a:pt x="-68554" y="3859530"/>
                    <a:pt x="33046" y="4157980"/>
                  </a:cubicBezTo>
                  <a:cubicBezTo>
                    <a:pt x="137186" y="4467860"/>
                    <a:pt x="490246" y="4658360"/>
                    <a:pt x="684556" y="4916170"/>
                  </a:cubicBezTo>
                  <a:cubicBezTo>
                    <a:pt x="881406" y="5176520"/>
                    <a:pt x="962686" y="5556250"/>
                    <a:pt x="1233196" y="5745480"/>
                  </a:cubicBezTo>
                  <a:cubicBezTo>
                    <a:pt x="1501166" y="5933440"/>
                    <a:pt x="1901216" y="5891530"/>
                    <a:pt x="2223796" y="5991860"/>
                  </a:cubicBezTo>
                  <a:cubicBezTo>
                    <a:pt x="2534946" y="6088380"/>
                    <a:pt x="2830856" y="6352540"/>
                    <a:pt x="3175026" y="6352540"/>
                  </a:cubicBezTo>
                  <a:cubicBezTo>
                    <a:pt x="3519196" y="6352540"/>
                    <a:pt x="3816376" y="6089650"/>
                    <a:pt x="4126256" y="5991860"/>
                  </a:cubicBezTo>
                  <a:cubicBezTo>
                    <a:pt x="4447566" y="5891530"/>
                    <a:pt x="4848886" y="5933440"/>
                    <a:pt x="5116856" y="5745480"/>
                  </a:cubicBezTo>
                  <a:cubicBezTo>
                    <a:pt x="5387366" y="5556250"/>
                    <a:pt x="5468646" y="5176520"/>
                    <a:pt x="5665496" y="4916170"/>
                  </a:cubicBezTo>
                  <a:cubicBezTo>
                    <a:pt x="5861076" y="4658360"/>
                    <a:pt x="6212866" y="4467860"/>
                    <a:pt x="6317006" y="4157980"/>
                  </a:cubicBezTo>
                  <a:cubicBezTo>
                    <a:pt x="6418606" y="3858260"/>
                    <a:pt x="6253506" y="3506470"/>
                    <a:pt x="6253506" y="3176270"/>
                  </a:cubicBezTo>
                  <a:close/>
                </a:path>
              </a:pathLst>
            </a:custGeom>
            <a:solidFill>
              <a:srgbClr val="8B5CB4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4294530" y="394665"/>
            <a:ext cx="9698940" cy="9497670"/>
            <a:chOff x="-72390" y="7620"/>
            <a:chExt cx="6487160" cy="63525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3836" y="7620"/>
              <a:ext cx="6350053" cy="6352540"/>
            </a:xfrm>
            <a:custGeom>
              <a:avLst/>
              <a:gdLst/>
              <a:ahLst/>
              <a:cxnLst/>
              <a:rect r="r" b="b" t="t" l="l"/>
              <a:pathLst>
                <a:path h="6352540" w="6350053">
                  <a:moveTo>
                    <a:pt x="6253506" y="3176270"/>
                  </a:moveTo>
                  <a:cubicBezTo>
                    <a:pt x="6253506" y="2844800"/>
                    <a:pt x="6418606" y="2493010"/>
                    <a:pt x="6317006" y="2194560"/>
                  </a:cubicBezTo>
                  <a:cubicBezTo>
                    <a:pt x="6212866" y="1884680"/>
                    <a:pt x="5859806" y="1694180"/>
                    <a:pt x="5665496" y="1436370"/>
                  </a:cubicBezTo>
                  <a:cubicBezTo>
                    <a:pt x="5468646" y="1176020"/>
                    <a:pt x="5387366" y="796290"/>
                    <a:pt x="5116856" y="607060"/>
                  </a:cubicBezTo>
                  <a:cubicBezTo>
                    <a:pt x="4848886" y="420370"/>
                    <a:pt x="4448836" y="462280"/>
                    <a:pt x="4127526" y="360680"/>
                  </a:cubicBezTo>
                  <a:cubicBezTo>
                    <a:pt x="3816376" y="264160"/>
                    <a:pt x="3520466" y="0"/>
                    <a:pt x="3176296" y="0"/>
                  </a:cubicBezTo>
                  <a:cubicBezTo>
                    <a:pt x="2832126" y="0"/>
                    <a:pt x="2534946" y="262890"/>
                    <a:pt x="2225066" y="360680"/>
                  </a:cubicBezTo>
                  <a:cubicBezTo>
                    <a:pt x="1903756" y="461010"/>
                    <a:pt x="1502436" y="419100"/>
                    <a:pt x="1234466" y="607060"/>
                  </a:cubicBezTo>
                  <a:cubicBezTo>
                    <a:pt x="963956" y="796290"/>
                    <a:pt x="882676" y="1176020"/>
                    <a:pt x="685826" y="1436370"/>
                  </a:cubicBezTo>
                  <a:cubicBezTo>
                    <a:pt x="490246" y="1694180"/>
                    <a:pt x="138456" y="1884680"/>
                    <a:pt x="33046" y="2194560"/>
                  </a:cubicBezTo>
                  <a:cubicBezTo>
                    <a:pt x="-67284" y="2493010"/>
                    <a:pt x="96546" y="2844800"/>
                    <a:pt x="96546" y="3176270"/>
                  </a:cubicBezTo>
                  <a:cubicBezTo>
                    <a:pt x="96546" y="3507740"/>
                    <a:pt x="-68554" y="3859530"/>
                    <a:pt x="33046" y="4157980"/>
                  </a:cubicBezTo>
                  <a:cubicBezTo>
                    <a:pt x="137186" y="4467860"/>
                    <a:pt x="490246" y="4658360"/>
                    <a:pt x="684556" y="4916170"/>
                  </a:cubicBezTo>
                  <a:cubicBezTo>
                    <a:pt x="881406" y="5176520"/>
                    <a:pt x="962686" y="5556250"/>
                    <a:pt x="1233196" y="5745480"/>
                  </a:cubicBezTo>
                  <a:cubicBezTo>
                    <a:pt x="1501166" y="5933440"/>
                    <a:pt x="1901216" y="5891530"/>
                    <a:pt x="2223796" y="5991860"/>
                  </a:cubicBezTo>
                  <a:cubicBezTo>
                    <a:pt x="2534946" y="6088380"/>
                    <a:pt x="2830856" y="6352540"/>
                    <a:pt x="3175026" y="6352540"/>
                  </a:cubicBezTo>
                  <a:cubicBezTo>
                    <a:pt x="3519196" y="6352540"/>
                    <a:pt x="3816376" y="6089650"/>
                    <a:pt x="4126256" y="5991860"/>
                  </a:cubicBezTo>
                  <a:cubicBezTo>
                    <a:pt x="4447566" y="5891530"/>
                    <a:pt x="4848886" y="5933440"/>
                    <a:pt x="5116856" y="5745480"/>
                  </a:cubicBezTo>
                  <a:cubicBezTo>
                    <a:pt x="5387366" y="5556250"/>
                    <a:pt x="5468646" y="5176520"/>
                    <a:pt x="5665496" y="4916170"/>
                  </a:cubicBezTo>
                  <a:cubicBezTo>
                    <a:pt x="5861076" y="4658360"/>
                    <a:pt x="6212866" y="4467860"/>
                    <a:pt x="6317006" y="4157980"/>
                  </a:cubicBezTo>
                  <a:cubicBezTo>
                    <a:pt x="6418606" y="3858260"/>
                    <a:pt x="6253506" y="3506470"/>
                    <a:pt x="6253506" y="3176270"/>
                  </a:cubicBezTo>
                  <a:close/>
                </a:path>
              </a:pathLst>
            </a:custGeom>
            <a:solidFill>
              <a:srgbClr val="FEF8F2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-10800000">
            <a:off x="11660424" y="7647538"/>
            <a:ext cx="2124506" cy="1610762"/>
          </a:xfrm>
          <a:custGeom>
            <a:avLst/>
            <a:gdLst/>
            <a:ahLst/>
            <a:cxnLst/>
            <a:rect r="r" b="b" t="t" l="l"/>
            <a:pathLst>
              <a:path h="1610762" w="2124506">
                <a:moveTo>
                  <a:pt x="0" y="0"/>
                </a:moveTo>
                <a:lnTo>
                  <a:pt x="2124506" y="0"/>
                </a:lnTo>
                <a:lnTo>
                  <a:pt x="2124506" y="1610762"/>
                </a:lnTo>
                <a:lnTo>
                  <a:pt x="0" y="16107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94530" y="1277470"/>
            <a:ext cx="2124506" cy="1610762"/>
          </a:xfrm>
          <a:custGeom>
            <a:avLst/>
            <a:gdLst/>
            <a:ahLst/>
            <a:cxnLst/>
            <a:rect r="r" b="b" t="t" l="l"/>
            <a:pathLst>
              <a:path h="1610762" w="2124506">
                <a:moveTo>
                  <a:pt x="0" y="0"/>
                </a:moveTo>
                <a:lnTo>
                  <a:pt x="2124506" y="0"/>
                </a:lnTo>
                <a:lnTo>
                  <a:pt x="2124506" y="1610762"/>
                </a:lnTo>
                <a:lnTo>
                  <a:pt x="0" y="16107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585751" y="4272903"/>
            <a:ext cx="9199179" cy="337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8"/>
              </a:lnSpc>
            </a:pPr>
            <a:r>
              <a:rPr lang="en-US" sz="9939" spc="9">
                <a:solidFill>
                  <a:srgbClr val="282158"/>
                </a:solidFill>
                <a:latin typeface="Lilita One"/>
                <a:ea typeface="Lilita One"/>
                <a:cs typeface="Lilita One"/>
                <a:sym typeface="Lilita One"/>
              </a:rPr>
              <a:t>COLORES PARA TUS DASHBOARDS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96132" y="1461617"/>
            <a:ext cx="7578417" cy="2006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481"/>
              </a:lnSpc>
            </a:pPr>
            <a:r>
              <a:rPr lang="en-US" sz="11772">
                <a:solidFill>
                  <a:srgbClr val="282158"/>
                </a:solidFill>
                <a:latin typeface="Bellaboo"/>
                <a:ea typeface="Bellaboo"/>
                <a:cs typeface="Bellaboo"/>
                <a:sym typeface="Bellaboo"/>
              </a:rPr>
              <a:t>Presentación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0725" y="257693"/>
            <a:ext cx="4961780" cy="2316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sz="3299" spc="3">
                <a:solidFill>
                  <a:srgbClr val="282158"/>
                </a:solidFill>
                <a:latin typeface="Lilita One"/>
                <a:ea typeface="Lilita One"/>
                <a:cs typeface="Lilita One"/>
                <a:sym typeface="Lilita One"/>
              </a:rPr>
              <a:t>VERONICA HERNÁNDEZ</a:t>
            </a:r>
          </a:p>
          <a:p>
            <a:pPr algn="ctr">
              <a:lnSpc>
                <a:spcPts val="4619"/>
              </a:lnSpc>
            </a:pPr>
            <a:r>
              <a:rPr lang="en-US" sz="3299" spc="3">
                <a:solidFill>
                  <a:srgbClr val="282158"/>
                </a:solidFill>
                <a:latin typeface="Lilita One"/>
                <a:ea typeface="Lilita One"/>
                <a:cs typeface="Lilita One"/>
                <a:sym typeface="Lilita One"/>
              </a:rPr>
              <a:t>HAZEL SALAZAR</a:t>
            </a:r>
          </a:p>
          <a:p>
            <a:pPr algn="ctr">
              <a:lnSpc>
                <a:spcPts val="4619"/>
              </a:lnSpc>
            </a:pPr>
            <a:r>
              <a:rPr lang="en-US" sz="3299" spc="3">
                <a:solidFill>
                  <a:srgbClr val="282158"/>
                </a:solidFill>
                <a:latin typeface="Lilita One"/>
                <a:ea typeface="Lilita One"/>
                <a:cs typeface="Lilita One"/>
                <a:sym typeface="Lilita One"/>
              </a:rPr>
              <a:t>MERCEDES VASQUEZ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spc="3">
                <a:solidFill>
                  <a:srgbClr val="282158"/>
                </a:solidFill>
                <a:latin typeface="Lilita One"/>
                <a:ea typeface="Lilita One"/>
                <a:cs typeface="Lilita One"/>
                <a:sym typeface="Lilita One"/>
              </a:rPr>
              <a:t>EFRAIN S ROJAS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52655" y="3474535"/>
            <a:ext cx="9982689" cy="6660241"/>
          </a:xfrm>
          <a:custGeom>
            <a:avLst/>
            <a:gdLst/>
            <a:ahLst/>
            <a:cxnLst/>
            <a:rect r="r" b="b" t="t" l="l"/>
            <a:pathLst>
              <a:path h="6660241" w="9982689">
                <a:moveTo>
                  <a:pt x="0" y="0"/>
                </a:moveTo>
                <a:lnTo>
                  <a:pt x="9982690" y="0"/>
                </a:lnTo>
                <a:lnTo>
                  <a:pt x="9982690" y="6660241"/>
                </a:lnTo>
                <a:lnTo>
                  <a:pt x="0" y="66602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1701" y="951475"/>
            <a:ext cx="16931201" cy="252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64"/>
              </a:lnSpc>
            </a:pPr>
            <a:r>
              <a:rPr lang="en-US" sz="11004" spc="11">
                <a:solidFill>
                  <a:srgbClr val="282158"/>
                </a:solidFill>
                <a:latin typeface="Lilita One"/>
                <a:ea typeface="Lilita One"/>
                <a:cs typeface="Lilita One"/>
                <a:sym typeface="Lilita One"/>
              </a:rPr>
              <a:t>USO DEL COLOR EN EL DISEÑO DE DASHBOARDS.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93963" y="2274385"/>
            <a:ext cx="12530617" cy="7048472"/>
          </a:xfrm>
          <a:custGeom>
            <a:avLst/>
            <a:gdLst/>
            <a:ahLst/>
            <a:cxnLst/>
            <a:rect r="r" b="b" t="t" l="l"/>
            <a:pathLst>
              <a:path h="7048472" w="12530617">
                <a:moveTo>
                  <a:pt x="0" y="0"/>
                </a:moveTo>
                <a:lnTo>
                  <a:pt x="12530616" y="0"/>
                </a:lnTo>
                <a:lnTo>
                  <a:pt x="12530616" y="7048472"/>
                </a:lnTo>
                <a:lnTo>
                  <a:pt x="0" y="70484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1701" y="951475"/>
            <a:ext cx="9067820" cy="13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64"/>
              </a:lnSpc>
            </a:pPr>
            <a:r>
              <a:rPr lang="en-US" sz="11004" spc="11">
                <a:solidFill>
                  <a:srgbClr val="282158"/>
                </a:solidFill>
                <a:latin typeface="Lilita One"/>
                <a:ea typeface="Lilita One"/>
                <a:cs typeface="Lilita One"/>
                <a:sym typeface="Lilita One"/>
              </a:rPr>
              <a:t>COLORES BASE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69479" y="2530720"/>
            <a:ext cx="7528023" cy="7528023"/>
          </a:xfrm>
          <a:custGeom>
            <a:avLst/>
            <a:gdLst/>
            <a:ahLst/>
            <a:cxnLst/>
            <a:rect r="r" b="b" t="t" l="l"/>
            <a:pathLst>
              <a:path h="7528023" w="7528023">
                <a:moveTo>
                  <a:pt x="0" y="0"/>
                </a:moveTo>
                <a:lnTo>
                  <a:pt x="7528023" y="0"/>
                </a:lnTo>
                <a:lnTo>
                  <a:pt x="7528023" y="7528023"/>
                </a:lnTo>
                <a:lnTo>
                  <a:pt x="0" y="75280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1701" y="951475"/>
            <a:ext cx="16742696" cy="13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64"/>
              </a:lnSpc>
            </a:pPr>
            <a:r>
              <a:rPr lang="en-US" sz="11004" spc="11">
                <a:solidFill>
                  <a:srgbClr val="282158"/>
                </a:solidFill>
                <a:latin typeface="Lilita One"/>
                <a:ea typeface="Lilita One"/>
                <a:cs typeface="Lilita One"/>
                <a:sym typeface="Lilita One"/>
              </a:rPr>
              <a:t>COLORES CÁLIDOS Y FRÍOS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DD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3233" y="1226561"/>
            <a:ext cx="16496067" cy="4712687"/>
          </a:xfrm>
          <a:custGeom>
            <a:avLst/>
            <a:gdLst/>
            <a:ahLst/>
            <a:cxnLst/>
            <a:rect r="r" b="b" t="t" l="l"/>
            <a:pathLst>
              <a:path h="4712687" w="16496067">
                <a:moveTo>
                  <a:pt x="0" y="0"/>
                </a:moveTo>
                <a:lnTo>
                  <a:pt x="16496067" y="0"/>
                </a:lnTo>
                <a:lnTo>
                  <a:pt x="16496067" y="4712687"/>
                </a:lnTo>
                <a:lnTo>
                  <a:pt x="0" y="47126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6790" r="0" b="-7598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3233" y="1853621"/>
            <a:ext cx="16496067" cy="3716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3"/>
              </a:lnSpc>
            </a:pPr>
            <a:r>
              <a:rPr lang="en-US" sz="10992" spc="10">
                <a:solidFill>
                  <a:srgbClr val="282158"/>
                </a:solidFill>
                <a:latin typeface="Lilita One"/>
                <a:ea typeface="Lilita One"/>
                <a:cs typeface="Lilita One"/>
                <a:sym typeface="Lilita One"/>
              </a:rPr>
              <a:t> ANÁLOGOS, MONOCROMÁTICOS Y TRIÁDICOS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984598"/>
            <a:ext cx="15287235" cy="4276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3519" indent="-436759" lvl="1">
              <a:lnSpc>
                <a:spcPts val="6878"/>
              </a:lnSpc>
              <a:buFont typeface="Arial"/>
              <a:buChar char="•"/>
            </a:pPr>
            <a:r>
              <a:rPr lang="en-US" sz="4045">
                <a:solidFill>
                  <a:srgbClr val="503530"/>
                </a:solidFill>
                <a:latin typeface="Roboto"/>
                <a:ea typeface="Roboto"/>
                <a:cs typeface="Roboto"/>
                <a:sym typeface="Roboto"/>
              </a:rPr>
              <a:t>Colores vecinos · Armonía · Cohesión visual · Bajo contraste</a:t>
            </a:r>
          </a:p>
          <a:p>
            <a:pPr algn="l" marL="873519" indent="-436759" lvl="1">
              <a:lnSpc>
                <a:spcPts val="6878"/>
              </a:lnSpc>
              <a:buFont typeface="Arial"/>
              <a:buChar char="•"/>
            </a:pPr>
            <a:r>
              <a:rPr lang="en-US" sz="4045">
                <a:solidFill>
                  <a:srgbClr val="503530"/>
                </a:solidFill>
                <a:latin typeface="Roboto"/>
                <a:ea typeface="Roboto"/>
                <a:cs typeface="Roboto"/>
                <a:sym typeface="Roboto"/>
              </a:rPr>
              <a:t>Un solo color · Tonos y matices · Una sola métrica · Mapa de calor</a:t>
            </a:r>
          </a:p>
          <a:p>
            <a:pPr algn="l" marL="873519" indent="-436759" lvl="1">
              <a:lnSpc>
                <a:spcPts val="6878"/>
              </a:lnSpc>
              <a:buFont typeface="Arial"/>
              <a:buChar char="•"/>
            </a:pPr>
            <a:r>
              <a:rPr lang="en-US" sz="4045">
                <a:solidFill>
                  <a:srgbClr val="503530"/>
                </a:solidFill>
                <a:latin typeface="Roboto"/>
                <a:ea typeface="Roboto"/>
                <a:cs typeface="Roboto"/>
                <a:sym typeface="Roboto"/>
              </a:rPr>
              <a:t>Tres colores equidistantes · Vibrante · Equilibrio · Tres categorías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3335756" cy="3752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35756" cy="3752726"/>
            </a:xfrm>
            <a:custGeom>
              <a:avLst/>
              <a:gdLst/>
              <a:ahLst/>
              <a:cxnLst/>
              <a:rect r="r" b="b" t="t" l="l"/>
              <a:pathLst>
                <a:path h="3752726" w="3335756">
                  <a:moveTo>
                    <a:pt x="0" y="0"/>
                  </a:moveTo>
                  <a:lnTo>
                    <a:pt x="3335756" y="0"/>
                  </a:lnTo>
                  <a:lnTo>
                    <a:pt x="3335756" y="3752726"/>
                  </a:lnTo>
                  <a:lnTo>
                    <a:pt x="0" y="3752726"/>
                  </a:lnTo>
                  <a:close/>
                </a:path>
              </a:pathLst>
            </a:custGeom>
            <a:solidFill>
              <a:srgbClr val="F8DDF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682077" y="1028700"/>
            <a:ext cx="12375338" cy="8229600"/>
          </a:xfrm>
          <a:custGeom>
            <a:avLst/>
            <a:gdLst/>
            <a:ahLst/>
            <a:cxnLst/>
            <a:rect r="r" b="b" t="t" l="l"/>
            <a:pathLst>
              <a:path h="8229600" w="12375338">
                <a:moveTo>
                  <a:pt x="0" y="0"/>
                </a:moveTo>
                <a:lnTo>
                  <a:pt x="12375339" y="0"/>
                </a:lnTo>
                <a:lnTo>
                  <a:pt x="1237533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9199" y="1314450"/>
            <a:ext cx="8132878" cy="20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4"/>
              </a:lnSpc>
            </a:pPr>
            <a:r>
              <a:rPr lang="en-US" sz="8946" spc="8">
                <a:solidFill>
                  <a:srgbClr val="282158"/>
                </a:solidFill>
                <a:latin typeface="Lilita One"/>
                <a:ea typeface="Lilita One"/>
                <a:cs typeface="Lilita One"/>
                <a:sym typeface="Lilita One"/>
              </a:rPr>
              <a:t>NEUTROS Y SEMÁFORO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5031" y="3848964"/>
            <a:ext cx="6761216" cy="418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0312" indent="-355156" lvl="1">
              <a:lnSpc>
                <a:spcPts val="5593"/>
              </a:lnSpc>
              <a:buFont typeface="Arial"/>
              <a:buChar char="•"/>
            </a:pPr>
            <a:r>
              <a:rPr lang="en-US" sz="3290">
                <a:solidFill>
                  <a:srgbClr val="381F1B"/>
                </a:solidFill>
                <a:latin typeface="Roboto"/>
                <a:ea typeface="Roboto"/>
                <a:cs typeface="Roboto"/>
                <a:sym typeface="Roboto"/>
              </a:rPr>
              <a:t>Gris</a:t>
            </a:r>
            <a:r>
              <a:rPr lang="en-US" sz="3290">
                <a:solidFill>
                  <a:srgbClr val="381F1B"/>
                </a:solidFill>
                <a:latin typeface="Roboto"/>
                <a:ea typeface="Roboto"/>
                <a:cs typeface="Roboto"/>
                <a:sym typeface="Roboto"/>
              </a:rPr>
              <a:t>es y blancos · Fondo · Reducción de ruido visual · Soporte</a:t>
            </a:r>
          </a:p>
          <a:p>
            <a:pPr algn="l" marL="710312" indent="-355156" lvl="1">
              <a:lnSpc>
                <a:spcPts val="5593"/>
              </a:lnSpc>
              <a:buFont typeface="Arial"/>
              <a:buChar char="•"/>
            </a:pPr>
            <a:r>
              <a:rPr lang="en-US" sz="3290">
                <a:solidFill>
                  <a:srgbClr val="381F1B"/>
                </a:solidFill>
                <a:latin typeface="Roboto"/>
                <a:ea typeface="Roboto"/>
                <a:cs typeface="Roboto"/>
                <a:sym typeface="Roboto"/>
              </a:rPr>
              <a:t>Verde-amarillo-rojo · Intuitivo · Estado/riesgo · Psicología del color · Urgencia (rojo)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DD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1432103" y="841155"/>
            <a:ext cx="5084645" cy="8604690"/>
            <a:chOff x="0" y="0"/>
            <a:chExt cx="3722370" cy="6299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91441" y="283464"/>
              <a:ext cx="3056406" cy="5728208"/>
            </a:xfrm>
            <a:custGeom>
              <a:avLst/>
              <a:gdLst/>
              <a:ahLst/>
              <a:cxnLst/>
              <a:rect r="r" b="b" t="t" l="l"/>
              <a:pathLst>
                <a:path h="5728208" w="3056406">
                  <a:moveTo>
                    <a:pt x="0" y="0"/>
                  </a:moveTo>
                  <a:lnTo>
                    <a:pt x="3056406" y="0"/>
                  </a:lnTo>
                  <a:lnTo>
                    <a:pt x="3056406" y="5728208"/>
                  </a:lnTo>
                  <a:lnTo>
                    <a:pt x="0" y="5728208"/>
                  </a:lnTo>
                  <a:close/>
                </a:path>
              </a:pathLst>
            </a:custGeom>
            <a:blipFill>
              <a:blip r:embed="rId2"/>
              <a:stretch>
                <a:fillRect l="-90914" t="0" r="-90914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22370" cy="6299327"/>
            </a:xfrm>
            <a:custGeom>
              <a:avLst/>
              <a:gdLst/>
              <a:ahLst/>
              <a:cxnLst/>
              <a:rect r="r" b="b" t="t" l="l"/>
              <a:pathLst>
                <a:path h="6299327" w="3722370">
                  <a:moveTo>
                    <a:pt x="0" y="0"/>
                  </a:moveTo>
                  <a:lnTo>
                    <a:pt x="3722370" y="0"/>
                  </a:lnTo>
                  <a:lnTo>
                    <a:pt x="3722370" y="6299327"/>
                  </a:lnTo>
                  <a:lnTo>
                    <a:pt x="0" y="6299327"/>
                  </a:lnTo>
                  <a:close/>
                </a:path>
              </a:pathLst>
            </a:custGeom>
            <a:blipFill>
              <a:blip r:embed="rId3"/>
              <a:stretch>
                <a:fillRect l="-28" t="0" r="-28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98055" y="805974"/>
            <a:ext cx="10086818" cy="2334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45"/>
              </a:lnSpc>
            </a:pPr>
            <a:r>
              <a:rPr lang="en-US" sz="10169" spc="10">
                <a:solidFill>
                  <a:srgbClr val="282158"/>
                </a:solidFill>
                <a:latin typeface="Lilita One"/>
                <a:ea typeface="Lilita One"/>
                <a:cs typeface="Lilita One"/>
                <a:sym typeface="Lilita One"/>
              </a:rPr>
              <a:t>PALETAS DE DATOS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14766" y="3284175"/>
            <a:ext cx="6853395" cy="402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79585" indent="-689792" lvl="1">
              <a:lnSpc>
                <a:spcPts val="10862"/>
              </a:lnSpc>
              <a:buFont typeface="Arial"/>
              <a:buChar char="•"/>
            </a:pPr>
            <a:r>
              <a:rPr lang="en-US" sz="6389">
                <a:solidFill>
                  <a:srgbClr val="381F1B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6389">
                <a:solidFill>
                  <a:srgbClr val="381F1B"/>
                </a:solidFill>
                <a:latin typeface="Roboto"/>
                <a:ea typeface="Roboto"/>
                <a:cs typeface="Roboto"/>
                <a:sym typeface="Roboto"/>
              </a:rPr>
              <a:t>ate</a:t>
            </a:r>
            <a:r>
              <a:rPr lang="en-US" sz="6389">
                <a:solidFill>
                  <a:srgbClr val="381F1B"/>
                </a:solidFill>
                <a:latin typeface="Roboto"/>
                <a:ea typeface="Roboto"/>
                <a:cs typeface="Roboto"/>
                <a:sym typeface="Roboto"/>
              </a:rPr>
              <a:t>gó</a:t>
            </a:r>
            <a:r>
              <a:rPr lang="en-US" sz="6389">
                <a:solidFill>
                  <a:srgbClr val="381F1B"/>
                </a:solidFill>
                <a:latin typeface="Roboto"/>
                <a:ea typeface="Roboto"/>
                <a:cs typeface="Roboto"/>
                <a:sym typeface="Roboto"/>
              </a:rPr>
              <a:t>ricas</a:t>
            </a:r>
          </a:p>
          <a:p>
            <a:pPr algn="l" marL="1379585" indent="-689792" lvl="1">
              <a:lnSpc>
                <a:spcPts val="10862"/>
              </a:lnSpc>
              <a:buFont typeface="Arial"/>
              <a:buChar char="•"/>
            </a:pPr>
            <a:r>
              <a:rPr lang="en-US" sz="6389">
                <a:solidFill>
                  <a:srgbClr val="381F1B"/>
                </a:solidFill>
                <a:latin typeface="Roboto"/>
                <a:ea typeface="Roboto"/>
                <a:cs typeface="Roboto"/>
                <a:sym typeface="Roboto"/>
              </a:rPr>
              <a:t>Secuenciales</a:t>
            </a:r>
          </a:p>
          <a:p>
            <a:pPr algn="l" marL="1379585" indent="-689792" lvl="1">
              <a:lnSpc>
                <a:spcPts val="10862"/>
              </a:lnSpc>
              <a:buFont typeface="Arial"/>
              <a:buChar char="•"/>
            </a:pPr>
            <a:r>
              <a:rPr lang="en-US" sz="6389">
                <a:solidFill>
                  <a:srgbClr val="381F1B"/>
                </a:solidFill>
                <a:latin typeface="Roboto"/>
                <a:ea typeface="Roboto"/>
                <a:cs typeface="Roboto"/>
                <a:sym typeface="Roboto"/>
              </a:rPr>
              <a:t>Divergentes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598392">
            <a:off x="-1289997" y="-2081429"/>
            <a:ext cx="6465385" cy="7041508"/>
          </a:xfrm>
          <a:custGeom>
            <a:avLst/>
            <a:gdLst/>
            <a:ahLst/>
            <a:cxnLst/>
            <a:rect r="r" b="b" t="t" l="l"/>
            <a:pathLst>
              <a:path h="7041508" w="6465385">
                <a:moveTo>
                  <a:pt x="0" y="0"/>
                </a:moveTo>
                <a:lnTo>
                  <a:pt x="6465385" y="0"/>
                </a:lnTo>
                <a:lnTo>
                  <a:pt x="6465385" y="7041509"/>
                </a:lnTo>
                <a:lnTo>
                  <a:pt x="0" y="7041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57577" y="5483420"/>
            <a:ext cx="6465385" cy="7041508"/>
          </a:xfrm>
          <a:custGeom>
            <a:avLst/>
            <a:gdLst/>
            <a:ahLst/>
            <a:cxnLst/>
            <a:rect r="r" b="b" t="t" l="l"/>
            <a:pathLst>
              <a:path h="7041508" w="6465385">
                <a:moveTo>
                  <a:pt x="0" y="0"/>
                </a:moveTo>
                <a:lnTo>
                  <a:pt x="6465385" y="0"/>
                </a:lnTo>
                <a:lnTo>
                  <a:pt x="6465385" y="7041508"/>
                </a:lnTo>
                <a:lnTo>
                  <a:pt x="0" y="7041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70595" y="4852713"/>
            <a:ext cx="5946809" cy="5995795"/>
          </a:xfrm>
          <a:custGeom>
            <a:avLst/>
            <a:gdLst/>
            <a:ahLst/>
            <a:cxnLst/>
            <a:rect r="r" b="b" t="t" l="l"/>
            <a:pathLst>
              <a:path h="5995795" w="5946809">
                <a:moveTo>
                  <a:pt x="0" y="0"/>
                </a:moveTo>
                <a:lnTo>
                  <a:pt x="5946810" y="0"/>
                </a:lnTo>
                <a:lnTo>
                  <a:pt x="5946810" y="5995794"/>
                </a:lnTo>
                <a:lnTo>
                  <a:pt x="0" y="5995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141150" y="1782226"/>
            <a:ext cx="18570301" cy="246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8"/>
              </a:lnSpc>
            </a:pPr>
            <a:r>
              <a:rPr lang="en-US" sz="10743" spc="10">
                <a:solidFill>
                  <a:srgbClr val="282158"/>
                </a:solidFill>
                <a:latin typeface="Lilita One"/>
                <a:ea typeface="Lilita One"/>
                <a:cs typeface="Lilita One"/>
                <a:sym typeface="Lilita One"/>
              </a:rPr>
              <a:t>EL COLOR COMO UN FENOMENO FÍSICO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52093" y="1409397"/>
            <a:ext cx="6132625" cy="5928205"/>
          </a:xfrm>
          <a:custGeom>
            <a:avLst/>
            <a:gdLst/>
            <a:ahLst/>
            <a:cxnLst/>
            <a:rect r="r" b="b" t="t" l="l"/>
            <a:pathLst>
              <a:path h="5928205" w="6132625">
                <a:moveTo>
                  <a:pt x="0" y="0"/>
                </a:moveTo>
                <a:lnTo>
                  <a:pt x="6132625" y="0"/>
                </a:lnTo>
                <a:lnTo>
                  <a:pt x="6132625" y="5928204"/>
                </a:lnTo>
                <a:lnTo>
                  <a:pt x="0" y="5928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8845" y="1409397"/>
            <a:ext cx="10040036" cy="5756287"/>
          </a:xfrm>
          <a:custGeom>
            <a:avLst/>
            <a:gdLst/>
            <a:ahLst/>
            <a:cxnLst/>
            <a:rect r="r" b="b" t="t" l="l"/>
            <a:pathLst>
              <a:path h="5756287" w="10040036">
                <a:moveTo>
                  <a:pt x="0" y="0"/>
                </a:moveTo>
                <a:lnTo>
                  <a:pt x="10040036" y="0"/>
                </a:lnTo>
                <a:lnTo>
                  <a:pt x="10040036" y="5756287"/>
                </a:lnTo>
                <a:lnTo>
                  <a:pt x="0" y="5756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57841" y="1028700"/>
            <a:ext cx="6871716" cy="8229600"/>
          </a:xfrm>
          <a:custGeom>
            <a:avLst/>
            <a:gdLst/>
            <a:ahLst/>
            <a:cxnLst/>
            <a:rect r="r" b="b" t="t" l="l"/>
            <a:pathLst>
              <a:path h="8229600" w="6871716">
                <a:moveTo>
                  <a:pt x="0" y="0"/>
                </a:moveTo>
                <a:lnTo>
                  <a:pt x="6871716" y="0"/>
                </a:lnTo>
                <a:lnTo>
                  <a:pt x="687171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9167" y="2122765"/>
            <a:ext cx="10414537" cy="2818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5"/>
              </a:lnSpc>
            </a:pPr>
            <a:r>
              <a:rPr lang="en-US" sz="12215" spc="12">
                <a:solidFill>
                  <a:srgbClr val="282158"/>
                </a:solidFill>
                <a:latin typeface="Lilita One"/>
                <a:ea typeface="Lilita One"/>
                <a:cs typeface="Lilita One"/>
                <a:sym typeface="Lilita One"/>
              </a:rPr>
              <a:t>CONCLUSIÓN</a:t>
            </a:r>
          </a:p>
          <a:p>
            <a:pPr algn="ctr">
              <a:lnSpc>
                <a:spcPts val="10505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450271" y="4426624"/>
            <a:ext cx="8672329" cy="3441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4"/>
              </a:lnSpc>
            </a:pPr>
            <a:r>
              <a:rPr lang="en-US" sz="3255">
                <a:solidFill>
                  <a:srgbClr val="3F322B"/>
                </a:solidFill>
                <a:latin typeface="Roboto"/>
                <a:ea typeface="Roboto"/>
                <a:cs typeface="Roboto"/>
                <a:sym typeface="Roboto"/>
              </a:rPr>
              <a:t>"El color en</a:t>
            </a:r>
            <a:r>
              <a:rPr lang="en-US" sz="3255">
                <a:solidFill>
                  <a:srgbClr val="3F322B"/>
                </a:solidFill>
                <a:latin typeface="Roboto"/>
                <a:ea typeface="Roboto"/>
                <a:cs typeface="Roboto"/>
                <a:sym typeface="Roboto"/>
              </a:rPr>
              <a:t> un dashboard no decora: comunica. Elegir bien l</a:t>
            </a:r>
            <a:r>
              <a:rPr lang="en-US" sz="3255">
                <a:solidFill>
                  <a:srgbClr val="3F322B"/>
                </a:solidFill>
                <a:latin typeface="Roboto"/>
                <a:ea typeface="Roboto"/>
                <a:cs typeface="Roboto"/>
                <a:sym typeface="Roboto"/>
              </a:rPr>
              <a:t>a paleta (según el dato, el contexto y el efecto psicológico buscado) es lo qu</a:t>
            </a:r>
            <a:r>
              <a:rPr lang="en-US" sz="3255">
                <a:solidFill>
                  <a:srgbClr val="3F322B"/>
                </a:solidFill>
                <a:latin typeface="Roboto"/>
                <a:ea typeface="Roboto"/>
                <a:cs typeface="Roboto"/>
                <a:sym typeface="Roboto"/>
              </a:rPr>
              <a:t>e convierte números en decisiones claras."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DAHTPMr6l9M</dc:identifier>
  <dcterms:modified xsi:type="dcterms:W3CDTF">2011-08-01T06:04:30Z</dcterms:modified>
  <cp:revision>1</cp:revision>
  <dc:title>COLORES PARA TUS dASHBOARDS</dc:title>
</cp:coreProperties>
</file>