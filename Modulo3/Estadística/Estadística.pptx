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nton" charset="1" panose="00000500000000000000"/>
      <p:regular r:id="rId16"/>
    </p:embeddedFont>
    <p:embeddedFont>
      <p:font typeface="Antonio Bold" charset="1" panose="02000803000000000000"/>
      <p:regular r:id="rId17"/>
    </p:embeddedFont>
    <p:embeddedFont>
      <p:font typeface="DM Sans Bold" charset="1" panose="00000000000000000000"/>
      <p:regular r:id="rId18"/>
    </p:embeddedFont>
    <p:embeddedFont>
      <p:font typeface="Arimo" charset="1" panose="020B0604020202020204"/>
      <p:regular r:id="rId19"/>
    </p:embeddedFont>
    <p:embeddedFont>
      <p:font typeface="Antonio" charset="1" panose="02000503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6.png" Type="http://schemas.openxmlformats.org/officeDocument/2006/relationships/image"/><Relationship Id="rId13" Target="../media/image7.svg" Type="http://schemas.openxmlformats.org/officeDocument/2006/relationships/image"/><Relationship Id="rId14" Target="../media/image8.png" Type="http://schemas.openxmlformats.org/officeDocument/2006/relationships/image"/><Relationship Id="rId15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https://economipedia.com/definiciones/estadistica.html" TargetMode="External" Type="http://schemas.openxmlformats.org/officeDocument/2006/relationships/hyperlink"/><Relationship Id="rId4" Target="https://openstax.org/books/introducci%C3%B3n-estad%C3%ADstica-empresarial/pages/1-3-niveles-de-medicion" TargetMode="External" Type="http://schemas.openxmlformats.org/officeDocument/2006/relationships/hyperlink"/><Relationship Id="rId5" Target="https://www.ikusi.com/mx/blog/importancia-de-la-estadistica/" TargetMode="External" Type="http://schemas.openxmlformats.org/officeDocument/2006/relationships/hyperlink"/><Relationship Id="rId6" Target="https://www.fisimat.com.mx/poblacion-muestra-y-variable-estadistica/" TargetMode="External" Type="http://schemas.openxmlformats.org/officeDocument/2006/relationships/hyperlink"/><Relationship Id="rId7" Target="https://economipedia.com/definiciones/variable-estadistica.html" TargetMode="External" Type="http://schemas.openxmlformats.org/officeDocument/2006/relationships/hyperlink"/><Relationship Id="rId8" Target="https://tudashboard.com/importancia-de-la-estadistica-en-una-empresa/" TargetMode="External" Type="http://schemas.openxmlformats.org/officeDocument/2006/relationships/hyperlink"/><Relationship Id="rId9" Target="https://myamazonguy.com/news/amazon-customer-shopping-behaviors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01789" r="-73534" b="-67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35232" y="1028700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59135" y="2850148"/>
            <a:ext cx="8384865" cy="188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89"/>
              </a:lnSpc>
            </a:pPr>
            <a:r>
              <a:rPr lang="en-US" sz="13704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Estadística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690336"/>
            <a:ext cx="5410768" cy="1567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6"/>
              </a:lnSpc>
            </a:pPr>
            <a:r>
              <a:rPr lang="en-US" b="true" sz="4006" spc="104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VERÓNICA HERNÁNDEZ </a:t>
            </a:r>
          </a:p>
          <a:p>
            <a:pPr algn="l">
              <a:lnSpc>
                <a:spcPts val="4086"/>
              </a:lnSpc>
            </a:pPr>
            <a:r>
              <a:rPr lang="en-US" b="true" sz="4006" spc="104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SEBASTIÁN ROJAS</a:t>
            </a:r>
          </a:p>
          <a:p>
            <a:pPr algn="l">
              <a:lnSpc>
                <a:spcPts val="4086"/>
              </a:lnSpc>
            </a:pPr>
            <a:r>
              <a:rPr lang="en-US" b="true" sz="4006" spc="104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MERCEDES VASQUEZ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3659" y="6891071"/>
            <a:ext cx="3745853" cy="355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5"/>
              </a:lnSpc>
            </a:pPr>
            <a:r>
              <a:rPr lang="en-US" b="true" sz="2866" spc="74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PRESENTADO POR 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" r="-73534" b="-20758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88067" y="1069964"/>
            <a:ext cx="12994589" cy="838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40"/>
              </a:lnSpc>
            </a:pPr>
            <a:r>
              <a:rPr lang="en-US" sz="6038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Estadística y su aplicación en la empresa.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120786" y="3088922"/>
            <a:ext cx="7344498" cy="6169378"/>
          </a:xfrm>
          <a:custGeom>
            <a:avLst/>
            <a:gdLst/>
            <a:ahLst/>
            <a:cxnLst/>
            <a:rect r="r" b="b" t="t" l="l"/>
            <a:pathLst>
              <a:path h="6169378" w="7344498">
                <a:moveTo>
                  <a:pt x="0" y="0"/>
                </a:moveTo>
                <a:lnTo>
                  <a:pt x="7344498" y="0"/>
                </a:lnTo>
                <a:lnTo>
                  <a:pt x="7344498" y="6169378"/>
                </a:lnTo>
                <a:lnTo>
                  <a:pt x="0" y="61693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795539" y="0"/>
            <a:ext cx="3492461" cy="1987528"/>
          </a:xfrm>
          <a:custGeom>
            <a:avLst/>
            <a:gdLst/>
            <a:ahLst/>
            <a:cxnLst/>
            <a:rect r="r" b="b" t="t" l="l"/>
            <a:pathLst>
              <a:path h="1987528" w="3492461">
                <a:moveTo>
                  <a:pt x="3492461" y="0"/>
                </a:moveTo>
                <a:lnTo>
                  <a:pt x="0" y="0"/>
                </a:lnTo>
                <a:lnTo>
                  <a:pt x="0" y="1987528"/>
                </a:lnTo>
                <a:lnTo>
                  <a:pt x="3492461" y="1987528"/>
                </a:lnTo>
                <a:lnTo>
                  <a:pt x="349246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8752034"/>
            <a:ext cx="2201158" cy="1012533"/>
          </a:xfrm>
          <a:custGeom>
            <a:avLst/>
            <a:gdLst/>
            <a:ahLst/>
            <a:cxnLst/>
            <a:rect r="r" b="b" t="t" l="l"/>
            <a:pathLst>
              <a:path h="1012533" w="2201158">
                <a:moveTo>
                  <a:pt x="0" y="0"/>
                </a:moveTo>
                <a:lnTo>
                  <a:pt x="2201158" y="0"/>
                </a:lnTo>
                <a:lnTo>
                  <a:pt x="2201158" y="1012532"/>
                </a:lnTo>
                <a:lnTo>
                  <a:pt x="0" y="10125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16977" y="3022247"/>
            <a:ext cx="8928242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La estadística sirve para estudiar datos y convertirlos en información útil.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6977" y="4836551"/>
            <a:ext cx="8297168" cy="163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18"/>
              </a:lnSpc>
              <a:spcBef>
                <a:spcPct val="0"/>
              </a:spcBef>
            </a:pPr>
            <a:r>
              <a:rPr lang="en-US" sz="308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La estadística se divide en dos grandes ramas: </a:t>
            </a:r>
          </a:p>
          <a:p>
            <a:pPr algn="just" marL="666014" indent="-333007" lvl="1">
              <a:lnSpc>
                <a:spcPts val="4318"/>
              </a:lnSpc>
              <a:buFont typeface="Arial"/>
              <a:buChar char="•"/>
            </a:pPr>
            <a:r>
              <a:rPr lang="en-US" sz="308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descriptiva</a:t>
            </a:r>
          </a:p>
          <a:p>
            <a:pPr algn="just" marL="666014" indent="-333007" lvl="1">
              <a:lnSpc>
                <a:spcPts val="4318"/>
              </a:lnSpc>
              <a:buFont typeface="Arial"/>
              <a:buChar char="•"/>
            </a:pPr>
            <a:r>
              <a:rPr lang="en-US" sz="308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inferencial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6977" y="6880410"/>
            <a:ext cx="8900578" cy="163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18"/>
              </a:lnSpc>
              <a:spcBef>
                <a:spcPct val="0"/>
              </a:spcBef>
            </a:pPr>
            <a:r>
              <a:rPr lang="en-US" sz="308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</a:t>
            </a:r>
            <a:r>
              <a:rPr lang="en-US" sz="308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 estadística en las empresas sirve para analizar información y tomar mejores decisiones basadas en datos.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212047" r="-98407" b="-406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979562"/>
            <a:ext cx="5844656" cy="6327876"/>
          </a:xfrm>
          <a:custGeom>
            <a:avLst/>
            <a:gdLst/>
            <a:ahLst/>
            <a:cxnLst/>
            <a:rect r="r" b="b" t="t" l="l"/>
            <a:pathLst>
              <a:path h="6327876" w="5844656">
                <a:moveTo>
                  <a:pt x="0" y="0"/>
                </a:moveTo>
                <a:lnTo>
                  <a:pt x="5844656" y="0"/>
                </a:lnTo>
                <a:lnTo>
                  <a:pt x="5844656" y="6327876"/>
                </a:lnTo>
                <a:lnTo>
                  <a:pt x="0" y="63278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164811" y="2028175"/>
            <a:ext cx="6434182" cy="939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67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POBLACIÓN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-411138"/>
            <a:ext cx="3492461" cy="1987528"/>
          </a:xfrm>
          <a:custGeom>
            <a:avLst/>
            <a:gdLst/>
            <a:ahLst/>
            <a:cxnLst/>
            <a:rect r="r" b="b" t="t" l="l"/>
            <a:pathLst>
              <a:path h="1987528" w="3492461">
                <a:moveTo>
                  <a:pt x="0" y="0"/>
                </a:moveTo>
                <a:lnTo>
                  <a:pt x="3492461" y="0"/>
                </a:lnTo>
                <a:lnTo>
                  <a:pt x="3492461" y="1987528"/>
                </a:lnTo>
                <a:lnTo>
                  <a:pt x="0" y="19875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058142" y="8752034"/>
            <a:ext cx="2201158" cy="1012533"/>
          </a:xfrm>
          <a:custGeom>
            <a:avLst/>
            <a:gdLst/>
            <a:ahLst/>
            <a:cxnLst/>
            <a:rect r="r" b="b" t="t" l="l"/>
            <a:pathLst>
              <a:path h="1012533" w="2201158">
                <a:moveTo>
                  <a:pt x="0" y="0"/>
                </a:moveTo>
                <a:lnTo>
                  <a:pt x="2201158" y="0"/>
                </a:lnTo>
                <a:lnTo>
                  <a:pt x="2201158" y="1012532"/>
                </a:lnTo>
                <a:lnTo>
                  <a:pt x="0" y="10125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216287" y="4535289"/>
            <a:ext cx="3586520" cy="91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6"/>
              </a:lnSpc>
              <a:spcBef>
                <a:spcPct val="0"/>
              </a:spcBef>
            </a:pPr>
            <a:r>
              <a:rPr lang="en-US" sz="6800" spc="176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MUESTRA </a:t>
            </a:r>
          </a:p>
        </p:txBody>
      </p:sp>
      <p:sp>
        <p:nvSpPr>
          <p:cNvPr name="AutoShape 8" id="8"/>
          <p:cNvSpPr/>
          <p:nvPr/>
        </p:nvSpPr>
        <p:spPr>
          <a:xfrm>
            <a:off x="10231886" y="1576390"/>
            <a:ext cx="0" cy="6731047"/>
          </a:xfrm>
          <a:prstGeom prst="line">
            <a:avLst/>
          </a:prstGeom>
          <a:ln cap="flat" w="38100">
            <a:solidFill>
              <a:srgbClr val="000000">
                <a:alpha val="34902"/>
              </a:srgbClr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0533417" y="725187"/>
            <a:ext cx="4990360" cy="2794602"/>
          </a:xfrm>
          <a:custGeom>
            <a:avLst/>
            <a:gdLst/>
            <a:ahLst/>
            <a:cxnLst/>
            <a:rect r="r" b="b" t="t" l="l"/>
            <a:pathLst>
              <a:path h="2794602" w="4990360">
                <a:moveTo>
                  <a:pt x="0" y="0"/>
                </a:moveTo>
                <a:lnTo>
                  <a:pt x="4990360" y="0"/>
                </a:lnTo>
                <a:lnTo>
                  <a:pt x="4990360" y="2794602"/>
                </a:lnTo>
                <a:lnTo>
                  <a:pt x="0" y="27946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34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675292" y="3519789"/>
            <a:ext cx="2706611" cy="2834147"/>
          </a:xfrm>
          <a:custGeom>
            <a:avLst/>
            <a:gdLst/>
            <a:ahLst/>
            <a:cxnLst/>
            <a:rect r="r" b="b" t="t" l="l"/>
            <a:pathLst>
              <a:path h="2834147" w="2706611">
                <a:moveTo>
                  <a:pt x="0" y="0"/>
                </a:moveTo>
                <a:lnTo>
                  <a:pt x="2706610" y="0"/>
                </a:lnTo>
                <a:lnTo>
                  <a:pt x="2706610" y="2834147"/>
                </a:lnTo>
                <a:lnTo>
                  <a:pt x="0" y="2834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8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235337" y="6909147"/>
            <a:ext cx="3586520" cy="2654025"/>
          </a:xfrm>
          <a:custGeom>
            <a:avLst/>
            <a:gdLst/>
            <a:ahLst/>
            <a:cxnLst/>
            <a:rect r="r" b="b" t="t" l="l"/>
            <a:pathLst>
              <a:path h="2654025" w="3586520">
                <a:moveTo>
                  <a:pt x="0" y="0"/>
                </a:moveTo>
                <a:lnTo>
                  <a:pt x="3586520" y="0"/>
                </a:lnTo>
                <a:lnTo>
                  <a:pt x="3586520" y="2654025"/>
                </a:lnTo>
                <a:lnTo>
                  <a:pt x="0" y="26540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41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447328" y="7834586"/>
            <a:ext cx="3124438" cy="91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6"/>
              </a:lnSpc>
              <a:spcBef>
                <a:spcPct val="0"/>
              </a:spcBef>
            </a:pPr>
            <a:r>
              <a:rPr lang="en-US" sz="6800" spc="176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VARIABLE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462" t="-231769" r="-7415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7421" y="2834177"/>
            <a:ext cx="8115300" cy="6403709"/>
          </a:xfrm>
          <a:custGeom>
            <a:avLst/>
            <a:gdLst/>
            <a:ahLst/>
            <a:cxnLst/>
            <a:rect r="r" b="b" t="t" l="l"/>
            <a:pathLst>
              <a:path h="6403709" w="8115300">
                <a:moveTo>
                  <a:pt x="0" y="0"/>
                </a:moveTo>
                <a:lnTo>
                  <a:pt x="8115300" y="0"/>
                </a:lnTo>
                <a:lnTo>
                  <a:pt x="8115300" y="6403709"/>
                </a:lnTo>
                <a:lnTo>
                  <a:pt x="0" y="64037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-411138"/>
            <a:ext cx="3492461" cy="1987528"/>
          </a:xfrm>
          <a:custGeom>
            <a:avLst/>
            <a:gdLst/>
            <a:ahLst/>
            <a:cxnLst/>
            <a:rect r="r" b="b" t="t" l="l"/>
            <a:pathLst>
              <a:path h="1987528" w="3492461">
                <a:moveTo>
                  <a:pt x="0" y="0"/>
                </a:moveTo>
                <a:lnTo>
                  <a:pt x="3492461" y="0"/>
                </a:lnTo>
                <a:lnTo>
                  <a:pt x="3492461" y="1987528"/>
                </a:lnTo>
                <a:lnTo>
                  <a:pt x="0" y="19875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605623" y="1709740"/>
            <a:ext cx="9383302" cy="2582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37"/>
              </a:lnSpc>
            </a:pPr>
            <a:r>
              <a:rPr lang="en-US" sz="955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Tipos de variables y datos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058142" y="8752034"/>
            <a:ext cx="2201158" cy="1012533"/>
          </a:xfrm>
          <a:custGeom>
            <a:avLst/>
            <a:gdLst/>
            <a:ahLst/>
            <a:cxnLst/>
            <a:rect r="r" b="b" t="t" l="l"/>
            <a:pathLst>
              <a:path h="1012533" w="2201158">
                <a:moveTo>
                  <a:pt x="0" y="0"/>
                </a:moveTo>
                <a:lnTo>
                  <a:pt x="2201158" y="0"/>
                </a:lnTo>
                <a:lnTo>
                  <a:pt x="2201158" y="1012532"/>
                </a:lnTo>
                <a:lnTo>
                  <a:pt x="0" y="10125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537989" y="5086350"/>
            <a:ext cx="8450936" cy="3570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60"/>
              </a:lnSpc>
              <a:spcBef>
                <a:spcPct val="0"/>
              </a:spcBef>
            </a:pPr>
          </a:p>
          <a:p>
            <a:pPr algn="l">
              <a:lnSpc>
                <a:spcPts val="4960"/>
              </a:lnSpc>
              <a:spcBef>
                <a:spcPct val="0"/>
              </a:spcBef>
            </a:pPr>
            <a:r>
              <a:rPr lang="en-US" sz="354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Variables Cuantitativas: Datos discretos y Datos continuos</a:t>
            </a:r>
          </a:p>
          <a:p>
            <a:pPr algn="l">
              <a:lnSpc>
                <a:spcPts val="4960"/>
              </a:lnSpc>
              <a:spcBef>
                <a:spcPct val="0"/>
              </a:spcBef>
            </a:pPr>
          </a:p>
          <a:p>
            <a:pPr algn="l">
              <a:lnSpc>
                <a:spcPts val="4960"/>
              </a:lnSpc>
            </a:pPr>
            <a:r>
              <a:rPr lang="en-US" sz="354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Variables Cualitativas:  Datos nominales y Datos ordinales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606" r="-121972" b="-2260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5472309"/>
            <a:ext cx="8396352" cy="3785991"/>
          </a:xfrm>
          <a:custGeom>
            <a:avLst/>
            <a:gdLst/>
            <a:ahLst/>
            <a:cxnLst/>
            <a:rect r="r" b="b" t="t" l="l"/>
            <a:pathLst>
              <a:path h="3785991" w="8396352">
                <a:moveTo>
                  <a:pt x="0" y="0"/>
                </a:moveTo>
                <a:lnTo>
                  <a:pt x="8396352" y="0"/>
                </a:lnTo>
                <a:lnTo>
                  <a:pt x="8396352" y="3785991"/>
                </a:lnTo>
                <a:lnTo>
                  <a:pt x="0" y="37859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07800" y="1633230"/>
            <a:ext cx="13826464" cy="1946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71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Fuentes y niveles de m</a:t>
            </a:r>
            <a:r>
              <a:rPr lang="en-US" sz="71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edi</a:t>
            </a:r>
            <a:r>
              <a:rPr lang="en-US" sz="71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ción de datos empresariales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35392" y="5057775"/>
            <a:ext cx="5966931" cy="2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18"/>
              </a:lnSpc>
              <a:spcBef>
                <a:spcPct val="0"/>
              </a:spcBef>
            </a:pPr>
            <a:r>
              <a:rPr lang="en-US" sz="308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Learn Statistics Easily (2024) define los datos a nivel de empresa como la recopilación de información cuantitativa y cualitativa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4795539" y="0"/>
            <a:ext cx="3492461" cy="1987528"/>
          </a:xfrm>
          <a:custGeom>
            <a:avLst/>
            <a:gdLst/>
            <a:ahLst/>
            <a:cxnLst/>
            <a:rect r="r" b="b" t="t" l="l"/>
            <a:pathLst>
              <a:path h="1987528" w="3492461">
                <a:moveTo>
                  <a:pt x="3492461" y="0"/>
                </a:moveTo>
                <a:lnTo>
                  <a:pt x="0" y="0"/>
                </a:lnTo>
                <a:lnTo>
                  <a:pt x="0" y="1987528"/>
                </a:lnTo>
                <a:lnTo>
                  <a:pt x="3492461" y="1987528"/>
                </a:lnTo>
                <a:lnTo>
                  <a:pt x="349246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8752034"/>
            <a:ext cx="2201158" cy="1012533"/>
          </a:xfrm>
          <a:custGeom>
            <a:avLst/>
            <a:gdLst/>
            <a:ahLst/>
            <a:cxnLst/>
            <a:rect r="r" b="b" t="t" l="l"/>
            <a:pathLst>
              <a:path h="1012533" w="2201158">
                <a:moveTo>
                  <a:pt x="0" y="0"/>
                </a:moveTo>
                <a:lnTo>
                  <a:pt x="2201158" y="0"/>
                </a:lnTo>
                <a:lnTo>
                  <a:pt x="2201158" y="1012532"/>
                </a:lnTo>
                <a:lnTo>
                  <a:pt x="0" y="10125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606" r="-121972" b="-2260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30343" y="5449521"/>
            <a:ext cx="5080000" cy="4114800"/>
          </a:xfrm>
          <a:custGeom>
            <a:avLst/>
            <a:gdLst/>
            <a:ahLst/>
            <a:cxnLst/>
            <a:rect r="r" b="b" t="t" l="l"/>
            <a:pathLst>
              <a:path h="4114800" w="5080000">
                <a:moveTo>
                  <a:pt x="0" y="0"/>
                </a:moveTo>
                <a:lnTo>
                  <a:pt x="5080000" y="0"/>
                </a:lnTo>
                <a:lnTo>
                  <a:pt x="5080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430343" y="4237631"/>
            <a:ext cx="5166889" cy="5326690"/>
          </a:xfrm>
          <a:custGeom>
            <a:avLst/>
            <a:gdLst/>
            <a:ahLst/>
            <a:cxnLst/>
            <a:rect r="r" b="b" t="t" l="l"/>
            <a:pathLst>
              <a:path h="5326690" w="5166889">
                <a:moveTo>
                  <a:pt x="0" y="0"/>
                </a:moveTo>
                <a:lnTo>
                  <a:pt x="5166889" y="0"/>
                </a:lnTo>
                <a:lnTo>
                  <a:pt x="5166889" y="5326690"/>
                </a:lnTo>
                <a:lnTo>
                  <a:pt x="0" y="53266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9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1043" y="2278870"/>
            <a:ext cx="18036957" cy="5498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  <a:spcBef>
                <a:spcPct val="0"/>
              </a:spcBef>
            </a:pPr>
            <a:r>
              <a:rPr lang="en-US" sz="308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Holmes (2022), en el libro Introducción a la Estadística Empresarial de OpenStax, explica que existen cuatro niveles, de menor a mayor:</a:t>
            </a:r>
          </a:p>
          <a:p>
            <a:pPr algn="l">
              <a:lnSpc>
                <a:spcPts val="7000"/>
              </a:lnSpc>
              <a:spcBef>
                <a:spcPct val="0"/>
              </a:spcBef>
            </a:pPr>
          </a:p>
          <a:p>
            <a:pPr algn="l" marL="1079510" indent="-539755" lvl="1">
              <a:lnSpc>
                <a:spcPts val="7000"/>
              </a:lnSpc>
              <a:spcBef>
                <a:spcPct val="0"/>
              </a:spcBef>
              <a:buAutoNum type="arabicPeriod" startAt="1"/>
            </a:pPr>
            <a:r>
              <a:rPr lang="en-US" sz="5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Nivel nominal</a:t>
            </a:r>
          </a:p>
          <a:p>
            <a:pPr algn="l" marL="1079510" indent="-539755" lvl="1">
              <a:lnSpc>
                <a:spcPts val="7000"/>
              </a:lnSpc>
              <a:spcBef>
                <a:spcPct val="0"/>
              </a:spcBef>
              <a:buAutoNum type="arabicPeriod" startAt="1"/>
            </a:pPr>
            <a:r>
              <a:rPr lang="en-US" sz="5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Nivel ordinal</a:t>
            </a:r>
          </a:p>
          <a:p>
            <a:pPr algn="l" marL="1079510" indent="-539755" lvl="1">
              <a:lnSpc>
                <a:spcPts val="7000"/>
              </a:lnSpc>
              <a:spcBef>
                <a:spcPct val="0"/>
              </a:spcBef>
              <a:buAutoNum type="arabicPeriod" startAt="1"/>
            </a:pPr>
            <a:r>
              <a:rPr lang="en-US" sz="5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Nivel de intervalo</a:t>
            </a:r>
          </a:p>
          <a:p>
            <a:pPr algn="l" marL="1079510" indent="-539755" lvl="1">
              <a:lnSpc>
                <a:spcPts val="7000"/>
              </a:lnSpc>
              <a:spcBef>
                <a:spcPct val="0"/>
              </a:spcBef>
              <a:buAutoNum type="arabicPeriod" startAt="1"/>
            </a:pPr>
            <a:r>
              <a:rPr lang="en-US" sz="5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Nivel de razón o cociente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212047" r="-98407" b="-4067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967467" y="2815132"/>
            <a:ext cx="7809833" cy="1062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4"/>
              </a:lnSpc>
            </a:pPr>
            <a:r>
              <a:rPr lang="en-US" sz="7738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Caso Empresarial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67467" y="4409695"/>
            <a:ext cx="5966931" cy="719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8"/>
              </a:lnSpc>
              <a:spcBef>
                <a:spcPct val="0"/>
              </a:spcBef>
            </a:pPr>
            <a:r>
              <a:rPr lang="en-US" sz="4284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AMAZON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3110844"/>
            <a:ext cx="7936857" cy="6147456"/>
          </a:xfrm>
          <a:custGeom>
            <a:avLst/>
            <a:gdLst/>
            <a:ahLst/>
            <a:cxnLst/>
            <a:rect r="r" b="b" t="t" l="l"/>
            <a:pathLst>
              <a:path h="6147456" w="7936857">
                <a:moveTo>
                  <a:pt x="0" y="0"/>
                </a:moveTo>
                <a:lnTo>
                  <a:pt x="7936857" y="0"/>
                </a:lnTo>
                <a:lnTo>
                  <a:pt x="7936857" y="6147456"/>
                </a:lnTo>
                <a:lnTo>
                  <a:pt x="0" y="61474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411138"/>
            <a:ext cx="3492461" cy="1987528"/>
          </a:xfrm>
          <a:custGeom>
            <a:avLst/>
            <a:gdLst/>
            <a:ahLst/>
            <a:cxnLst/>
            <a:rect r="r" b="b" t="t" l="l"/>
            <a:pathLst>
              <a:path h="1987528" w="3492461">
                <a:moveTo>
                  <a:pt x="0" y="0"/>
                </a:moveTo>
                <a:lnTo>
                  <a:pt x="3492461" y="0"/>
                </a:lnTo>
                <a:lnTo>
                  <a:pt x="3492461" y="1987528"/>
                </a:lnTo>
                <a:lnTo>
                  <a:pt x="0" y="19875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058142" y="8752034"/>
            <a:ext cx="2201158" cy="1012533"/>
          </a:xfrm>
          <a:custGeom>
            <a:avLst/>
            <a:gdLst/>
            <a:ahLst/>
            <a:cxnLst/>
            <a:rect r="r" b="b" t="t" l="l"/>
            <a:pathLst>
              <a:path h="1012533" w="2201158">
                <a:moveTo>
                  <a:pt x="0" y="0"/>
                </a:moveTo>
                <a:lnTo>
                  <a:pt x="2201158" y="0"/>
                </a:lnTo>
                <a:lnTo>
                  <a:pt x="2201158" y="1012532"/>
                </a:lnTo>
                <a:lnTo>
                  <a:pt x="0" y="10125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165794" y="5855431"/>
            <a:ext cx="6891972" cy="2113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54"/>
              </a:lnSpc>
              <a:spcBef>
                <a:spcPct val="0"/>
              </a:spcBef>
            </a:pPr>
            <a:r>
              <a:rPr lang="en-US" sz="3039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Según Vizologi (2023), Amazon ha logrado mantener su posición dominante en el comercio electrónico gracias al uso estratégico del análisis de comportamiento del consumidor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606" r="-121972" b="-2260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29549" y="5750589"/>
            <a:ext cx="2823707" cy="3507711"/>
          </a:xfrm>
          <a:custGeom>
            <a:avLst/>
            <a:gdLst/>
            <a:ahLst/>
            <a:cxnLst/>
            <a:rect r="r" b="b" t="t" l="l"/>
            <a:pathLst>
              <a:path h="3507711" w="2823707">
                <a:moveTo>
                  <a:pt x="0" y="0"/>
                </a:moveTo>
                <a:lnTo>
                  <a:pt x="2823707" y="0"/>
                </a:lnTo>
                <a:lnTo>
                  <a:pt x="2823707" y="3507711"/>
                </a:lnTo>
                <a:lnTo>
                  <a:pt x="0" y="35077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40664" y="2751368"/>
            <a:ext cx="14189125" cy="3688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09345" indent="-554672" lvl="1">
              <a:lnSpc>
                <a:spcPts val="5395"/>
              </a:lnSpc>
              <a:buAutoNum type="arabicPeriod" startAt="1"/>
            </a:pPr>
            <a:r>
              <a:rPr lang="en-US" sz="5138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Monto de la compra: Cuantitativa Continua</a:t>
            </a:r>
          </a:p>
          <a:p>
            <a:pPr algn="l" marL="1109345" indent="-554672" lvl="1">
              <a:lnSpc>
                <a:spcPts val="5395"/>
              </a:lnSpc>
              <a:buAutoNum type="arabicPeriod" startAt="1"/>
            </a:pPr>
            <a:r>
              <a:rPr lang="en-US" sz="5138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Número de artículos por pedido: cuantitativa discreta</a:t>
            </a:r>
          </a:p>
          <a:p>
            <a:pPr algn="l" marL="1109345" indent="-554672" lvl="1">
              <a:lnSpc>
                <a:spcPts val="5395"/>
              </a:lnSpc>
              <a:buAutoNum type="arabicPeriod" startAt="1"/>
            </a:pPr>
            <a:r>
              <a:rPr lang="en-US" sz="5138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El método de pago: Cualitativa Nominal</a:t>
            </a:r>
          </a:p>
          <a:p>
            <a:pPr algn="l" marL="1109345" indent="-554672" lvl="1">
              <a:lnSpc>
                <a:spcPts val="5395"/>
              </a:lnSpc>
              <a:spcBef>
                <a:spcPct val="0"/>
              </a:spcBef>
              <a:buAutoNum type="arabicPeriod" startAt="1"/>
            </a:pPr>
            <a:r>
              <a:rPr lang="en-US" sz="5138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Nivel de satisfacción: Cualitativa ordinal</a:t>
            </a:r>
          </a:p>
          <a:p>
            <a:pPr algn="ctr">
              <a:lnSpc>
                <a:spcPts val="7495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693633">
            <a:off x="12370662" y="6246057"/>
            <a:ext cx="3412962" cy="2918082"/>
          </a:xfrm>
          <a:custGeom>
            <a:avLst/>
            <a:gdLst/>
            <a:ahLst/>
            <a:cxnLst/>
            <a:rect r="r" b="b" t="t" l="l"/>
            <a:pathLst>
              <a:path h="2918082" w="3412962">
                <a:moveTo>
                  <a:pt x="0" y="0"/>
                </a:moveTo>
                <a:lnTo>
                  <a:pt x="3412962" y="0"/>
                </a:lnTo>
                <a:lnTo>
                  <a:pt x="3412962" y="2918083"/>
                </a:lnTo>
                <a:lnTo>
                  <a:pt x="0" y="29180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93270" y="839360"/>
            <a:ext cx="7809833" cy="1062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4"/>
              </a:lnSpc>
            </a:pPr>
            <a:r>
              <a:rPr lang="en-US" sz="7738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Variables: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01789" r="-73534" b="-67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35232" y="1028700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823232"/>
            <a:ext cx="7191573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9"/>
              </a:lnSpc>
            </a:pPr>
            <a:r>
              <a:rPr lang="en-US" sz="69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¡Muchas gracias por su atención!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" r="-73534" b="-20758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75818" y="519634"/>
            <a:ext cx="9329300" cy="1062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4"/>
              </a:lnSpc>
            </a:pPr>
            <a:r>
              <a:rPr lang="en-US" sz="7738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REFERENCIAS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897096"/>
            <a:ext cx="11054445" cy="652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193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Arias Sevilla, A., &amp; Roldán, P. (2025). Estadística: ¿Qué es y para qué sirve? Tipos y ejemplos. Economipedia. </a:t>
            </a:r>
            <a:r>
              <a:rPr lang="en-US" sz="1931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3" tooltip="https://economipedia.com/definiciones/estadistica.html"/>
              </a:rPr>
              <a:t>https://economipedia.com/definiciones/estadistica.html</a:t>
            </a:r>
            <a:r>
              <a:rPr lang="en-US" sz="193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l">
              <a:lnSpc>
                <a:spcPts val="2704"/>
              </a:lnSpc>
            </a:pPr>
            <a:r>
              <a:rPr lang="en-US" sz="193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Holmes, A. (2022, 14 de febrero). 1.3 Niveles de medición - Introducción a la estadística empresarial. OpenStax. </a:t>
            </a:r>
            <a:r>
              <a:rPr lang="en-US" sz="1931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4" tooltip="https://openstax.org/books/introducci%C3%B3n-estad%C3%ADstica-empresarial/pages/1-3-niveles-de-medicion"/>
              </a:rPr>
              <a:t>https://openstax.org/books/introducci%C3%B3n-estad%C3%ADstica-empresarial/pages/1-3-niveles-de-medicion</a:t>
            </a:r>
            <a:r>
              <a:rPr lang="en-US" sz="193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l">
              <a:lnSpc>
                <a:spcPts val="2704"/>
              </a:lnSpc>
            </a:pPr>
            <a:r>
              <a:rPr lang="en-US" sz="193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Ikusi. (2023, 20 de febrero). ¿Cuál es la importancia de la estadística en los negocios? </a:t>
            </a:r>
            <a:r>
              <a:rPr lang="en-US" sz="1931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5" tooltip="https://www.ikusi.com/mx/blog/importancia-de-la-estadistica/"/>
              </a:rPr>
              <a:t>https://www.ikusi.com/mx/blog/importancia-de-la-estadistica/</a:t>
            </a:r>
            <a:r>
              <a:rPr lang="en-US" sz="193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l">
              <a:lnSpc>
                <a:spcPts val="2704"/>
              </a:lnSpc>
            </a:pPr>
            <a:r>
              <a:rPr lang="en-US" sz="193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Julián, C. (2025, 30 de septiembre). Conceptos clave: Población, muestra y variable estadística. Fisimat. </a:t>
            </a:r>
            <a:r>
              <a:rPr lang="en-US" sz="1931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6" tooltip="https://www.fisimat.com.mx/poblacion-muestra-y-variable-estadistica/"/>
              </a:rPr>
              <a:t>https://www.fisimat.com.mx/poblacion-muestra-y-variable-estadistica/</a:t>
            </a:r>
            <a:r>
              <a:rPr lang="en-US" sz="193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l">
              <a:lnSpc>
                <a:spcPts val="2704"/>
              </a:lnSpc>
            </a:pPr>
            <a:r>
              <a:rPr lang="en-US" sz="193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Learn Statistics Easily. (2024). ¿Qué son los datos a nivel de empresa? https://es.statisticseasily.com/glossario/what-is-firm-level-data-understanding-key-concepts/</a:t>
            </a:r>
          </a:p>
          <a:p>
            <a:pPr algn="l">
              <a:lnSpc>
                <a:spcPts val="2704"/>
              </a:lnSpc>
            </a:pPr>
            <a:r>
              <a:rPr lang="en-US" sz="193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López, J. F. (2026). Variable estadística: Qué es, tipos y ejemplos. Economipedia. </a:t>
            </a:r>
            <a:r>
              <a:rPr lang="en-US" sz="1931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7" tooltip="https://economipedia.com/definiciones/variable-estadistica.html"/>
              </a:rPr>
              <a:t>https://economipedia.com/definiciones/variable-estadistica.html</a:t>
            </a:r>
            <a:r>
              <a:rPr lang="en-US" sz="193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l">
              <a:lnSpc>
                <a:spcPts val="2704"/>
              </a:lnSpc>
            </a:pPr>
            <a:r>
              <a:rPr lang="en-US" sz="193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Tu Dashboard. (2019, 12 de marzo). Importancia de la estadística en una empresa. </a:t>
            </a:r>
            <a:r>
              <a:rPr lang="en-US" sz="1931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8" tooltip="https://tudashboard.com/importancia-de-la-estadistica-en-una-empresa/"/>
              </a:rPr>
              <a:t>https://tudashboard.com/importancia-de-la-estadistica-en-una-empresa/</a:t>
            </a:r>
            <a:r>
              <a:rPr lang="en-US" sz="193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l">
              <a:lnSpc>
                <a:spcPts val="2704"/>
              </a:lnSpc>
            </a:pPr>
            <a:r>
              <a:rPr lang="en-US" sz="193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Wickham, N. (2024, 23 de diciembre). Amazon customer shopping behaviors: Key insights to shape your business strategy. My Amazon Guy. </a:t>
            </a:r>
            <a:r>
              <a:rPr lang="en-US" sz="1931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9" tooltip="https://myamazonguy.com/news/amazon-customer-shopping-behaviors/"/>
              </a:rPr>
              <a:t>https://myamazonguy.com/news/amazon-customer-shopping-behaviors/</a:t>
            </a:r>
          </a:p>
          <a:p>
            <a:pPr algn="l">
              <a:lnSpc>
                <a:spcPts val="2704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556049" y="6221643"/>
            <a:ext cx="5731951" cy="3366218"/>
          </a:xfrm>
          <a:custGeom>
            <a:avLst/>
            <a:gdLst/>
            <a:ahLst/>
            <a:cxnLst/>
            <a:rect r="r" b="b" t="t" l="l"/>
            <a:pathLst>
              <a:path h="3366218" w="5731951">
                <a:moveTo>
                  <a:pt x="0" y="0"/>
                </a:moveTo>
                <a:lnTo>
                  <a:pt x="5731951" y="0"/>
                </a:lnTo>
                <a:lnTo>
                  <a:pt x="5731951" y="3366218"/>
                </a:lnTo>
                <a:lnTo>
                  <a:pt x="0" y="33662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795539" y="0"/>
            <a:ext cx="3492461" cy="1987528"/>
          </a:xfrm>
          <a:custGeom>
            <a:avLst/>
            <a:gdLst/>
            <a:ahLst/>
            <a:cxnLst/>
            <a:rect r="r" b="b" t="t" l="l"/>
            <a:pathLst>
              <a:path h="1987528" w="3492461">
                <a:moveTo>
                  <a:pt x="3492461" y="0"/>
                </a:moveTo>
                <a:lnTo>
                  <a:pt x="0" y="0"/>
                </a:lnTo>
                <a:lnTo>
                  <a:pt x="0" y="1987528"/>
                </a:lnTo>
                <a:lnTo>
                  <a:pt x="3492461" y="1987528"/>
                </a:lnTo>
                <a:lnTo>
                  <a:pt x="3492461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8752034"/>
            <a:ext cx="2201158" cy="1012533"/>
          </a:xfrm>
          <a:custGeom>
            <a:avLst/>
            <a:gdLst/>
            <a:ahLst/>
            <a:cxnLst/>
            <a:rect r="r" b="b" t="t" l="l"/>
            <a:pathLst>
              <a:path h="1012533" w="2201158">
                <a:moveTo>
                  <a:pt x="0" y="0"/>
                </a:moveTo>
                <a:lnTo>
                  <a:pt x="2201158" y="0"/>
                </a:lnTo>
                <a:lnTo>
                  <a:pt x="2201158" y="1012532"/>
                </a:lnTo>
                <a:lnTo>
                  <a:pt x="0" y="101253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DAHRRESzLAA</dc:identifier>
  <dcterms:modified xsi:type="dcterms:W3CDTF">2011-08-01T06:04:30Z</dcterms:modified>
  <cp:revision>1</cp:revision>
  <dc:title>Estadística</dc:title>
</cp:coreProperties>
</file>