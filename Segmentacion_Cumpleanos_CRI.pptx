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74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Personas</c:v>
                </c:pt>
              </c:strCache>
            </c:strRef>
          </c:tx>
          <c:spPr>
            <a:solidFill>
              <a:srgbClr val="3E8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</c:v>
                </c:pt>
                <c:pt idx="1">
                  <c:v>49</c:v>
                </c:pt>
                <c:pt idx="2">
                  <c:v>37</c:v>
                </c:pt>
                <c:pt idx="3">
                  <c:v>37</c:v>
                </c:pt>
                <c:pt idx="4">
                  <c:v>55</c:v>
                </c:pt>
                <c:pt idx="5">
                  <c:v>56</c:v>
                </c:pt>
                <c:pt idx="6">
                  <c:v>42</c:v>
                </c:pt>
                <c:pt idx="7">
                  <c:v>59</c:v>
                </c:pt>
                <c:pt idx="8">
                  <c:v>51</c:v>
                </c:pt>
                <c:pt idx="9">
                  <c:v>51</c:v>
                </c:pt>
                <c:pt idx="10">
                  <c:v>60</c:v>
                </c:pt>
                <c:pt idx="11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76-4DCC-AD9F-B3F2BE0EFD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promedio</c:v>
                </c:pt>
              </c:strCache>
            </c:strRef>
          </c:tx>
          <c:spPr>
            <a:ln w="38100" cap="flat">
              <a:solidFill>
                <a:srgbClr val="E3A8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3A857"/>
              </a:solidFill>
              <a:ln w="9525" cap="flat">
                <a:solidFill>
                  <a:srgbClr val="E3A85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178318</c:v>
                </c:pt>
                <c:pt idx="1">
                  <c:v>188636</c:v>
                </c:pt>
                <c:pt idx="2">
                  <c:v>188493</c:v>
                </c:pt>
                <c:pt idx="3">
                  <c:v>199647</c:v>
                </c:pt>
                <c:pt idx="4">
                  <c:v>182785</c:v>
                </c:pt>
                <c:pt idx="5">
                  <c:v>172605</c:v>
                </c:pt>
                <c:pt idx="6">
                  <c:v>163918</c:v>
                </c:pt>
                <c:pt idx="7">
                  <c:v>171465</c:v>
                </c:pt>
                <c:pt idx="8">
                  <c:v>169910</c:v>
                </c:pt>
                <c:pt idx="9">
                  <c:v>157085</c:v>
                </c:pt>
                <c:pt idx="10">
                  <c:v>157912</c:v>
                </c:pt>
                <c:pt idx="11">
                  <c:v>170304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504-47A1-AA45-1744C0F80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91-438C-989F-325294B60FF1}"/>
              </c:ext>
            </c:extLst>
          </c:dPt>
          <c:dPt>
            <c:idx val="1"/>
            <c:invertIfNegative val="0"/>
            <c:bubble3D val="0"/>
            <c:spPr>
              <a:solidFill>
                <a:srgbClr val="E06C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91-438C-989F-325294B60FF1}"/>
              </c:ext>
            </c:extLst>
          </c:dPt>
          <c:dPt>
            <c:idx val="2"/>
            <c:invertIfNegative val="0"/>
            <c:bubble3D val="0"/>
            <c:spPr>
              <a:solidFill>
                <a:srgbClr val="E3A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91-438C-989F-325294B60FF1}"/>
              </c:ext>
            </c:extLst>
          </c:dPt>
          <c:dPt>
            <c:idx val="3"/>
            <c:invertIfNegative val="0"/>
            <c:bubble3D val="0"/>
            <c:spPr>
              <a:solidFill>
                <a:srgbClr val="3E8E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91-438C-989F-325294B60F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· Conservadores</c:v>
                </c:pt>
                <c:pt idx="1">
                  <c:v>B · Emocionales</c:v>
                </c:pt>
                <c:pt idx="2">
                  <c:v>C · Premium</c:v>
                </c:pt>
                <c:pt idx="3">
                  <c:v>D · Jóvenes digitales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97.3</c:v>
                </c:pt>
                <c:pt idx="2">
                  <c:v>149</c:v>
                </c:pt>
                <c:pt idx="3">
                  <c:v>410.5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91-438C-989F-325294B60F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08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E3A85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DE COMPRA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de clientes por mes de cumpleaños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Costa Rica · 600 registros · Modelo K-Means (k=4) + análisis financiero de campañas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4820260"/>
            <a:ext cx="372161" cy="3721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681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datos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5010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tablas y patrones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4572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475488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220" y="4820260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4681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financieros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74920" y="5010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y ROI de campañas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2400" y="4572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8" name="Shape 14"/>
          <p:cNvSpPr/>
          <p:nvPr/>
        </p:nvSpPr>
        <p:spPr>
          <a:xfrm>
            <a:off x="7955280" y="475488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660" y="482026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95360" y="4681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Científicos de datos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595360" y="5010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mejora del servicio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3152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# 4 Hazel Salazar, Anthony Molina, Rosa Vargas, </a:t>
            </a:r>
            <a:r>
              <a:rPr lang="en-US" sz="1100" dirty="0" err="1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Yemil</a:t>
            </a: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Espinoza , Efrain Rojas·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recorrer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082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228197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5780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C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metodología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313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y el modelo K-Means detrás de los segmentos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208276"/>
            <a:ext cx="566928" cy="566928"/>
          </a:xfrm>
          <a:prstGeom prst="ellipse">
            <a:avLst/>
          </a:prstGeom>
          <a:solidFill>
            <a:srgbClr val="3E8E8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101" y="228197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0996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C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6092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por mes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360920" y="2313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Nacimientos, gasto promedio, edad, geografía y canal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61188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128516"/>
            <a:ext cx="566928" cy="566928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4202217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C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508760" y="3867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segmentos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08760" y="42336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conductuales que emergieron del modelo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0" y="361188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4128516"/>
            <a:ext cx="566928" cy="566928"/>
          </a:xfrm>
          <a:prstGeom prst="ellipse">
            <a:avLst/>
          </a:prstGeom>
          <a:solidFill>
            <a:srgbClr val="E06C5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101" y="4202217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09960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C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60920" y="3867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por segmento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60920" y="42336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Oferta, mensaje, canal y producto recomendados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53212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604875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6122457"/>
            <a:ext cx="419527" cy="41952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5669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C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508760" y="5788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508760" y="6153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Inversión, ingreso incremental, ROI y payback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400800" y="553212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629400" y="6048756"/>
            <a:ext cx="566928" cy="566928"/>
          </a:xfrm>
          <a:prstGeom prst="ellipse">
            <a:avLst/>
          </a:prstGeom>
          <a:solidFill>
            <a:srgbClr val="3E8E8A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3101" y="6122457"/>
            <a:ext cx="419527" cy="41952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09960" y="5669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C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360920" y="5788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próximos pasos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7360920" y="6153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medimos éxito y qué sigue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13639" y="66156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de datos y el equipo detrás del análisis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sobre una base de 600 registros de clientes en Costa Rica, cruzando fecha de cumpleaños con comportamiento de compra: monto promedio, frecuencia, categoría preferida, canal de pago y momento del día.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objetivo: entender si el mes de cumpleaños predice algo útil sobre cómo compra una persona, y si eso permite diseñar campañas más rentables que un cupón genérico igual para todos.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828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analizados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4160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88920" y="4828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identificados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4160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4828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/ patrones de conducta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1691640"/>
            <a:ext cx="448056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06640" y="1947672"/>
            <a:ext cx="502920" cy="502920"/>
          </a:xfrm>
          <a:prstGeom prst="ellipse">
            <a:avLst/>
          </a:prstGeom>
          <a:solidFill>
            <a:srgbClr val="3E8E8A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020" y="2013052"/>
            <a:ext cx="372161" cy="37216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46720" y="1856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datos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0" y="2194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información y descubrimiento de tendencias y patrones en la tabla base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78040" y="3291840"/>
            <a:ext cx="448056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06640" y="3547872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020" y="3613252"/>
            <a:ext cx="372161" cy="37216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4672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financieros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04672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de segmentos a inversión, ingreso incremental y retorno esperado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178040" y="4892040"/>
            <a:ext cx="448056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06640" y="5148072"/>
            <a:ext cx="502920" cy="502920"/>
          </a:xfrm>
          <a:prstGeom prst="ellipse">
            <a:avLst/>
          </a:prstGeom>
          <a:solidFill>
            <a:srgbClr val="E06C57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020" y="5213452"/>
            <a:ext cx="372161" cy="37216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46720" y="5056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Científicos de datos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04672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K-Means como mecanismo de mejora del servicio al cliente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construyó el modelo de segmentación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 supervisado, k = 4 segmentos.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segmentos naturales con lógica de negocio clara: no son categorías impuestas, emergieron de los datos tras estandarizar las variables.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318028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389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numérica directa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2880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3611880" y="310896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203" y="318028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promedio de compra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4389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por transacción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2880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17" name="Shape 13"/>
          <p:cNvSpPr/>
          <p:nvPr/>
        </p:nvSpPr>
        <p:spPr>
          <a:xfrm>
            <a:off x="6492240" y="310896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563" y="318028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de gasto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92240" y="4389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Codificada de ahorrador a impulsivo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89720" y="28803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22" name="Shape 17"/>
          <p:cNvSpPr/>
          <p:nvPr/>
        </p:nvSpPr>
        <p:spPr>
          <a:xfrm>
            <a:off x="9372600" y="310896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923" y="3180283"/>
            <a:ext cx="405994" cy="40599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compra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372600" y="4389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Codificada de ocasional a diaria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variables se estandarizaron antes de agrupar, para que ninguna dominara el cálculo de distancia por su escala.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nacimientos por mes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(60), Agosto (59) y Diciembre (58) 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 más personas.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y Abril 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la menor cantidad (37 cada uno).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distribución uniforme, pero tampoco hay meses "vacíos": el rango va de 37 a 60 personas.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promedio de compra por mes (₡)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alto: 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(₡199,647), Marzo (₡188,493) y Febrero (₡188,636).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bajo: 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(₡157,085), Noviembre (₡157,912) y Julio (₡163,918).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curioso: los meses con más nacimientos (Nov, Ago, Dic) NO son los de mayor gasto — Noviembre incluso tiene uno de los gastos más bajos.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conducta destacados por 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06C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Gastador impulsivo (17/58) · PayPal/SINPE · noche · moda y ropa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2024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260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Ocasiones especiales (14/49) · efectivo · coincide con San Valentín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03920" y="169164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1920240"/>
            <a:ext cx="502920" cy="502920"/>
          </a:xfrm>
          <a:prstGeom prst="ellipse">
            <a:avLst/>
          </a:prstGeom>
          <a:solidFill>
            <a:srgbClr val="3E8E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7900" y="19856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3252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 más ahorrador (13/42) · mañana · deportes y viajes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44087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y Noviembre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 en planificador (16 c/u) · compra semanal/quincenal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26280" y="411480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343400"/>
            <a:ext cx="502920" cy="502920"/>
          </a:xfrm>
          <a:prstGeom prst="ellipse">
            <a:avLst/>
          </a:prstGeom>
          <a:solidFill>
            <a:srgbClr val="E06C5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0260" y="440878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5488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frecuencia diaria de compra (22/56) · momento: noche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411480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32520" y="434340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7900" y="440878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3252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73252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 en educación y videojuegos · regreso a clases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 de gasto dominante por edad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06C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 años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domina con 24% del gasto (UNED, UCR)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2024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260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 años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 y fitness lidera con 17% (Smart Fit, Adidas)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03920" y="169164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1920240"/>
            <a:ext cx="502920" cy="502920"/>
          </a:xfrm>
          <a:prstGeom prst="ellipse">
            <a:avLst/>
          </a:prstGeom>
          <a:solidFill>
            <a:srgbClr val="3E8E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900" y="19856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35-44 años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3252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 y decoración concentra el 14% del gasto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0" y="44087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45-54 años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es la categoría dominante, con 15%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26280" y="411480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343400"/>
            <a:ext cx="502920" cy="502920"/>
          </a:xfrm>
          <a:prstGeom prst="ellipse">
            <a:avLst/>
          </a:prstGeom>
          <a:solidFill>
            <a:srgbClr val="E06C5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0260" y="440878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55-65 años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5488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y restaurantes lidera con 18% del gasto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4114800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32520" y="4343400"/>
            <a:ext cx="502920" cy="50292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7900" y="440878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3252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73252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edad-monto ≈ 0.06: la edad casi no predice cuánto se gasta, solo en qué categoría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Conducta de gasto autodeclarada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21.6% · mujeres 16.6% se autodefinen así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₡156,000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promedio más bajo de los cuatro perfiles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47872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76472" y="1920240"/>
            <a:ext cx="640080" cy="640080"/>
          </a:xfrm>
          <a:prstGeom prst="ellipse">
            <a:avLst/>
          </a:prstGeom>
          <a:solidFill>
            <a:srgbClr val="E06C57"/>
          </a:solidFill>
          <a:ln/>
        </p:spPr>
      </p:sp>
      <p:sp>
        <p:nvSpPr>
          <p:cNvPr id="14" name="Text 12"/>
          <p:cNvSpPr/>
          <p:nvPr/>
        </p:nvSpPr>
        <p:spPr>
          <a:xfrm>
            <a:off x="377647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76472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Gastador impulsivo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7647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 moderados y planificadores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76472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6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₡169,000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76472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bien a ofertas de tiempo limitado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47104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920240"/>
            <a:ext cx="640080" cy="64008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77570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75704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5704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 más que el gastador impulsivo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75704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75704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₡182,000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75704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equilibrado, de alto valor comercial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46336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74936" y="1920240"/>
            <a:ext cx="640080" cy="640080"/>
          </a:xfrm>
          <a:prstGeom prst="ellipse">
            <a:avLst/>
          </a:prstGeom>
          <a:solidFill>
            <a:srgbClr val="3E8E8A"/>
          </a:solidFill>
          <a:ln/>
        </p:spPr>
      </p:sp>
      <p:sp>
        <p:nvSpPr>
          <p:cNvPr id="30" name="Text 28"/>
          <p:cNvSpPr/>
          <p:nvPr/>
        </p:nvSpPr>
        <p:spPr>
          <a:xfrm>
            <a:off x="977493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774936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74936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24% · mujeres 20.8% se autodefinen así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74936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74936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8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₡186,000 (el más alto)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74936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 mayor valor: responde mejor a recordatorios anticipados que a urgencia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promedio por provincia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CEF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9" y="1784909"/>
            <a:ext cx="270662" cy="270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perfiles y valor de ticket no siempre van de la mano entre provincias — relevante para decidir dónde concentrar inversión.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₡185,000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Guanacaste y Heredia — mayor gasto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514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4340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₡170,000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2628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José — ticket medio pese a mayor volumen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38160" y="2514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E8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₡152,000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32104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Puntarenas — el ticket más bajo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estratégica: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José, con más población, tiene un ticket medio — más volumen no siempre significa más valor. Una estrategia de alto ticket podría rendir mejor en Guanacaste o Heredia que en la capital.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del día y método de pago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del día por edad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activar cada campaña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 AÑOS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Prefieren la noche (44%) — mejor ventana para notificaciones push.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45-54 Y 55-65 AÑOS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inclinan más por la tarde y la mañana.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horario de envío de notificaciones debe ajustarse por segmento etario, no ser único para todos.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envío nocturno para captar al segmento más joven, el de mayor frecuencia de interacción diaria.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E06C57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pago por edad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pasarela priorizar por segmento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JÓVENES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 más pagos con tarjeta de débito.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AÑOS Y MÁS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efectivo gana peso frente a otros métodos.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4663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pago se vuelve más diverso con la edad — relevante para priorizar pasarelas en el checkout.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efectivo y SINPE para el público de 45+, y un checkout ágil con tarjeta para los más jóvenes.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K-MEANS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segmentos identificados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Conservadores maduros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n=132 · edad 48.8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₡104,628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Ahorrador, compra mensual/quincenal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47872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76472" y="1920240"/>
            <a:ext cx="640080" cy="640080"/>
          </a:xfrm>
          <a:prstGeom prst="ellipse">
            <a:avLst/>
          </a:prstGeom>
          <a:solidFill>
            <a:srgbClr val="E06C57"/>
          </a:solidFill>
          <a:ln/>
        </p:spPr>
      </p:sp>
      <p:sp>
        <p:nvSpPr>
          <p:cNvPr id="14" name="Text 12"/>
          <p:cNvSpPr/>
          <p:nvPr/>
        </p:nvSpPr>
        <p:spPr>
          <a:xfrm>
            <a:off x="377647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76472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Emocionales de alto valor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76472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n=176 · edad 42.3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76472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6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₡209,285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76472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Impulsivo en ocasiones especiales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47104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920240"/>
            <a:ext cx="640080" cy="64008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77570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75704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recurrentes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5704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n=159 · edad 45.8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75704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75704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₡266,771 (el más alto)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75704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Planificador/moderado, compra semanal-diaria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46336" y="1691640"/>
            <a:ext cx="2743200" cy="4297680"/>
          </a:xfrm>
          <a:prstGeom prst="roundRect">
            <a:avLst>
              <a:gd name="adj" fmla="val 233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74936" y="1920240"/>
            <a:ext cx="640080" cy="640080"/>
          </a:xfrm>
          <a:prstGeom prst="ellipse">
            <a:avLst/>
          </a:prstGeom>
          <a:solidFill>
            <a:srgbClr val="3E8E8A"/>
          </a:solidFill>
          <a:ln/>
        </p:spPr>
      </p:sp>
      <p:sp>
        <p:nvSpPr>
          <p:cNvPr id="30" name="Text 28"/>
          <p:cNvSpPr/>
          <p:nvPr/>
        </p:nvSpPr>
        <p:spPr>
          <a:xfrm>
            <a:off x="977493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774936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digitales, bajo ticket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74936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n=133 · edad 33.2 (más joven)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74936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74936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8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₡85,084 (el más bajo)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74936" y="4663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Ocasiones especiales/impulsivo, compra diaria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VENTA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A y 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Conservadores maduros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Potencial: ₡13.8M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directos y cashback visibles; bundles de valor.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tangible ("Este mes ahorras ₡X"), sin urgencia artificial.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matutina; efectivo/SINPE sin fricción.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útil, comida, cursos con retorno claro.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E06C57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Emocionales de alto valor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Potencial: ₡36.8M (2º mayor)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exclusivas de cumpleaños: regalo sorpresa, envío gratis.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 y personalizado, con urgencia suave ("solo esta semana").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4663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Tarde/noche; PayPal/débito en un clic.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Moda, comida y experiencias — alto componente emocional.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VENTA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C y 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recurrentes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Potencial: ₡42.4M (el mayor · prioridad #1)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VIP con puntos dobles en el mes de cumpleaños; cross-sell.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y estatus ("como cliente frecuente...").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Mañana-tarde; débito/PayPal.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premium, ediciones limitadas, kits combinados.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3E8E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digitales, bajo ticket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Potencial: ₡11.3M · alto volumen de interacción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 y micro-recompensas; suscripciones que suben el ticket.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566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 y gamificado ("desbloquea tu regalo").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4663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Noche; SINPE Móvil/crédito.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8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Educación, hogar, moda accesible; ideal para upsell.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priorización sugerido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9304" y="182880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5" name="Text 3"/>
          <p:cNvSpPr/>
          <p:nvPr/>
        </p:nvSpPr>
        <p:spPr>
          <a:xfrm>
            <a:off x="12893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37944" y="2103120"/>
            <a:ext cx="1709928" cy="0"/>
          </a:xfrm>
          <a:prstGeom prst="line">
            <a:avLst/>
          </a:prstGeom>
          <a:noFill/>
          <a:ln w="19050">
            <a:solidFill>
              <a:srgbClr val="3A4A6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606040"/>
            <a:ext cx="2029968" cy="2377440"/>
          </a:xfrm>
          <a:prstGeom prst="roundRect">
            <a:avLst>
              <a:gd name="adj" fmla="val 315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889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C + B: mayor inversión, doble enfoque VIP + emocional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7872" y="1828800"/>
            <a:ext cx="548640" cy="548640"/>
          </a:xfrm>
          <a:prstGeom prst="ellipse">
            <a:avLst/>
          </a:prstGeom>
          <a:solidFill>
            <a:srgbClr val="E06C57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96512" y="2103120"/>
            <a:ext cx="1709928" cy="0"/>
          </a:xfrm>
          <a:prstGeom prst="line">
            <a:avLst/>
          </a:prstGeom>
          <a:noFill/>
          <a:ln w="19050">
            <a:solidFill>
              <a:srgbClr val="3A4A6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07208" y="2606040"/>
            <a:ext cx="2029968" cy="2377440"/>
          </a:xfrm>
          <a:prstGeom prst="roundRect">
            <a:avLst>
              <a:gd name="adj" fmla="val 315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944368" y="27889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44368" y="320040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volumen total (60): campaña de ahorro + experiencia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1828800"/>
            <a:ext cx="548640" cy="548640"/>
          </a:xfrm>
          <a:prstGeom prst="ellipse">
            <a:avLst/>
          </a:prstGeom>
          <a:solidFill>
            <a:srgbClr val="E06C57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55080" y="2103120"/>
            <a:ext cx="1709928" cy="0"/>
          </a:xfrm>
          <a:prstGeom prst="line">
            <a:avLst/>
          </a:prstGeom>
          <a:noFill/>
          <a:ln w="19050">
            <a:solidFill>
              <a:srgbClr val="3A4A6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65776" y="2606040"/>
            <a:ext cx="2029968" cy="2377440"/>
          </a:xfrm>
          <a:prstGeom prst="roundRect">
            <a:avLst>
              <a:gd name="adj" fmla="val 3153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7889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02936" y="320040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Dominado por B: campaña emocional de alto ticket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65008" y="1828800"/>
            <a:ext cx="548640" cy="54864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00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13648" y="2103120"/>
            <a:ext cx="1709928" cy="0"/>
          </a:xfrm>
          <a:prstGeom prst="line">
            <a:avLst/>
          </a:prstGeom>
          <a:noFill/>
          <a:ln w="19050">
            <a:solidFill>
              <a:srgbClr val="3A4A6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324344" y="2606040"/>
            <a:ext cx="2029968" cy="2377440"/>
          </a:xfrm>
          <a:prstGeom prst="roundRect">
            <a:avLst>
              <a:gd name="adj" fmla="val 3153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61504" y="27889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61504" y="320040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Dominado por C: campaña VIP / fidelidad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323576" y="1828800"/>
            <a:ext cx="548640" cy="548640"/>
          </a:xfrm>
          <a:prstGeom prst="ellipse">
            <a:avLst/>
          </a:prstGeom>
          <a:solidFill>
            <a:srgbClr val="3E8E8A"/>
          </a:solidFill>
          <a:ln/>
        </p:spPr>
      </p:sp>
      <p:sp>
        <p:nvSpPr>
          <p:cNvPr id="29" name="Text 27"/>
          <p:cNvSpPr/>
          <p:nvPr/>
        </p:nvSpPr>
        <p:spPr>
          <a:xfrm>
            <a:off x="1032357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82912" y="2606040"/>
            <a:ext cx="2029968" cy="2377440"/>
          </a:xfrm>
          <a:prstGeom prst="roundRect">
            <a:avLst>
              <a:gd name="adj" fmla="val 3153"/>
            </a:avLst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9720072" y="27889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20072" y="320040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Dominado por D: gamificación y suscripción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combina volumen de personas, dominancia de segmento de alto valor y estacionalidad emocional del mes.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del programa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CEF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1784909"/>
            <a:ext cx="270662" cy="270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6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financiero ilustrativo: n y ticket promedio son reales; costo por contacto, tasa de redención y uplift son supuestos de mercado a ajustar con costos reales. No es asesoría financiera ni una proyección garantizada.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₡1,662,500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en campañas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514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4340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₡3,874,869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2628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incremental esperado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38160" y="2514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E8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133.1%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32104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global del programa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mercado: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total de compras en meses de cumpleaños (sin campaña) ronda los ₡104.4M. La campaña no crea ese mercado — captura una porción incremental de él.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y payback por segmento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217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6424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incr.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Conservadores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₡198,876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Emocionales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₡1,215,529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₡1,781,495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Jóvenes digitales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₡678,969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040880" y="16916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tiene el mejor ROI relativo (410%) y el payback más rápido (2.4 meses) — quick win. </a:t>
            </a:r>
            <a:endParaRPr lang="en-US" sz="11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genera el mayor ingreso incremental absoluto (₡1.78M) con ROI sólido (149%).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6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casi no genera retorno (0.4% ROI): mejor enfocarlo en retención de bajo costo, no en adquisición agresiva.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Y SIGUIENTES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Presupuesto, KPIs y cierre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inversión (por retorno)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→  C  →  B  →  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por volumen de ingreso nuevo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→  B  →  D  → 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correr una campaña piloto (20–30% de cada segmento) durante 1–2 meses para validar la tasa de redención real antes de comprometer el presupuesto completo.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0" cy="457200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para medir el éxito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redención de oferta de cumpleaños por segmento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de ticket promedio vs. mes no-cumpleaños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recompra post-campaña (¿D sube su ticket?)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por segmento, medido trimestralmente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4343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 de cumpleaños sí predice conducta de compra. Tratarlo como segmento único desperdicia presupuesto; personalizar por perfil casi duplica el retorno.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 por mes de cumpleaños — Base CR (n=600)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B81A3B-6AB4-4161-97ED-A08D154522FA}"/>
              </a:ext>
            </a:extLst>
          </p:cNvPr>
          <p:cNvSpPr txBox="1"/>
          <p:nvPr/>
        </p:nvSpPr>
        <p:spPr>
          <a:xfrm>
            <a:off x="1595718" y="466165"/>
            <a:ext cx="8202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Referencia</a:t>
            </a:r>
            <a:r>
              <a:rPr lang="en-US" dirty="0"/>
              <a:t> </a:t>
            </a:r>
            <a:r>
              <a:rPr lang="en-US" dirty="0" err="1"/>
              <a:t>Bibliográfica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s-ES" b="0" i="0" dirty="0" err="1">
                <a:effectLst/>
                <a:latin typeface="Anthropic Sans"/>
              </a:rPr>
              <a:t>Anthropic</a:t>
            </a:r>
            <a:r>
              <a:rPr lang="es-ES" b="0" i="0" dirty="0">
                <a:effectLst/>
                <a:latin typeface="Anthropic Sans"/>
              </a:rPr>
              <a:t>. (2026). Claude (</a:t>
            </a:r>
            <a:r>
              <a:rPr lang="es-ES" b="0" i="0" dirty="0" err="1">
                <a:effectLst/>
                <a:latin typeface="Anthropic Sans"/>
              </a:rPr>
              <a:t>Sonnet</a:t>
            </a:r>
            <a:r>
              <a:rPr lang="es-ES" b="0" i="0" dirty="0">
                <a:effectLst/>
                <a:latin typeface="Anthropic Sans"/>
              </a:rPr>
              <a:t> 5) [Modelo de lenguaje de gran tamaño]. </a:t>
            </a:r>
            <a:r>
              <a:rPr lang="es-ES" b="0" i="0" u="sng" dirty="0">
                <a:effectLst/>
                <a:latin typeface="Anthropic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892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2147</Words>
  <Application>Microsoft Office PowerPoint</Application>
  <PresentationFormat>Panorámica</PresentationFormat>
  <Paragraphs>350</Paragraphs>
  <Slides>19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Anthropic Sans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de clientes por mes de cumpleaños — Base CR</dc:title>
  <dc:subject>PptxGenJS Presentation</dc:subject>
  <dc:creator>Efraín Sebastián Rojas A.</dc:creator>
  <cp:lastModifiedBy>Efrain Sebastian Rojas Artavia</cp:lastModifiedBy>
  <cp:revision>7</cp:revision>
  <dcterms:created xsi:type="dcterms:W3CDTF">2026-07-07T21:11:01Z</dcterms:created>
  <dcterms:modified xsi:type="dcterms:W3CDTF">2026-07-07T22:49:17Z</dcterms:modified>
</cp:coreProperties>
</file>